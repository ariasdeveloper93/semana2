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Bienvenidos y bienvenidas a la parte práctica de la Semana 2. Hoy vamos a trabajar la Programación Orientada a Objetos en Python, que es el corazón del desarrollo de esta Fase 3. La idea es que salgan de aquí entendiendo no solo la teoría, sino cómo se escribe el código: clases, objetos, atributos, métodos, herencia y composición. Iremos de lo más básico —cómo Python organiza los nombres— hasta cómo combinar objetos para construir sistemas ordenados. Todo lo que veamos está en el notebook práctico, así que los invito a tenerlo abierto e ir ejecutando conmigo.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Antes de entrar en materia, este es el recorrido de la sesión. Primero veremos scope y namespaces: dónde 'viven' los nombres en un programa y desde dónde se pueden usar. Es un fundamento que muchas veces se salta, pero que explica por qué después los objetos funcionan como funcionan. Luego entramos de lleno en la Programación Orientada a Objetos: clases, objetos, métodos, atributos, herencia y composición. Y cerramos con la manipulación de objetos, donde veremos que en Python absolutamente todo —un número, un texto, una lista— es un objeto con sus propios métodos. Son tres bloques que se construyen uno sobre otro.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Empecemos por el scope, o ámbito. El scope define desde dónde se puede usar una variable. Miren el ejemplo: dentro de la función 'saludar' creamos la variable 'mensaje'. Esa variable es local: solo existe mientras la función se ejecuta. Por eso, cuando intentamos imprimir 'mensaje' fuera de la función, Python nos da un error: no la reconoce, porque su alcance terminó. ¿Por qué nos importa esto? Porque entender el scope evita errores silenciosos y nos prepara para el siguiente concepto: cuando trabajemos con objetos, cada uno va a tener su propio espacio de nombres.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 el scope responde 'desde dónde puedo usar un nombre', el namespace responde 'dónde está guardado'. Un namespace es el espacio que asocia cada nombre con el objeto al que apunta. Lo clave para nosotros: cada clase y cada objeto tienen su propio namespace. Fíjense en el ejemplo: la clase Persona guarda 'especie', y el objeto 'p' guarda 'nombre'. Cuando pedimos 'p.especie', Python primero busca en el objeto; si no lo encuentra ahí, sube a buscarlo en la clase. Esa búsqueda por niveles es exactamente la mecánica que hace funcionar atributos y herencia, que veremos en un momento.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 esa base, definamos qué es la Programación Orientada a Objetos. Es un paradigma, una forma de pensar el programa, en la que modelamos la solución con objetos. Cada objeto integra en una sola unidad sus datos —los atributos— y sus comportamientos —los métodos—. ¿Qué ganamos con esto? Tres cosas: un código más modular, porque agrupamos lo que va junto; más reutilizable, porque no duplicamos lógica; y más comprensible, porque el código se parece al problema real que estamos resolviendo. En ciencia de datos esto es muy valioso cuando el proyecto crece y un script suelto ya no alcanza.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Vamos al primer bloque concreto: clases y objetos. La analogía más útil es la del molde. La clase es el molde: define un nuevo tipo de dato, en este caso 'Moto'. El objeto es lo que fabricamos con ese molde; a ese proceso lo llamamos instanciar. Cuando escribimos 'moto1 = Moto()', creamos un objeto; 'moto2 = Moto()' crea otro, completamente independiente. Y si preguntamos el tipo con 'type(moto1)', Python nos confirma que es de la clase Moto. Idea central: una clase, muchos objetos.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Dentro de una clase podemos definir funciones, y cuando una función vive dentro de una clase la llamamos método. El método representa una acción del objeto; aquí, 'velocidad_maxima'. Noten el primer parámetro: 'self'. Este parámetro es obligatorio y representa a la instancia concreta que está usando el método en ese momento. Es decir, 'self' le dice al método sobre qué objeto está actuando. Por eso, para usar el método, lo llamamos a través del objeto: 'moto1.velocidad_maxima()'. Al principio 'self' confunde, pero piénsenlo simplemente como 'este objeto'.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Los atributos son las variables que guardan información del objeto, y hay dos tipos que conviene distinguir. El atributo de clase se define directamente en la clase y es compartido por todas las instancias: en el ejemplo, 'atributo_clase' vale 150 para todas las motos. El atributo de instancia, en cambio, es propio de cada objeto; se define dentro de '__init__' usando 'self', y puede tener un valor distinto en cada instancia. Regla práctica: lo que es común a todos, atributo de clase; lo que cambia de un objeto a otro, atributo de instancia.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Hablemos del constructor, el método '__init__'. Lleva doble guion bajo porque es un método especial de Python, y lo importante es que se ejecuta automáticamente cada vez que creamos un objeto. Su trabajo es inicializar los atributos de instancia. Miren: cuando hacemos 'moto1 = Moto(200, 7)', Python llama solo a '__init__' y guarda esos valores en el objeto. 'moto2 = Moto(250, 10)' hace lo mismo, pero con su propio estado. Por eso moto1 y moto2 son independientes: cada una nace con sus propios datos. El constructor es donde definimos cómo arranca cada objeto.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Llegamos a la herencia, uno de los pilares más potentes. La herencia permite crear una clase hija a partir de una clase base o padre, reutilizando sus atributos y métodos. La idea de diseño es dejar en la clase base lo común y poner en las hijas lo específico. En el ejemplo, 'Moto1' es el padre y 'MotoElectrica' hereda de ella. Fíjense en la línea 'super().__init__(...)': eso invoca el constructor del padre para no repetir el código que ya escribimos, y después la hija agrega lo suyo, como el tipo de combustible. Heredamos lo que sirve y especializamos lo que cambia.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Una clase hija no solo hereda: también puede ampliarse y adaptarse de dos maneras. La primera es ampliar: la hija añade atributos y métodos completamente nuevos que el padre no tenía, como un método 'detalles_bateria'. La segunda es sobrescribir, o hacer 'override': tomamos un método heredado y lo redefinimos con el mismo nombre, pero con una implementación distinta que se ajuste mejor a la hija. Aquí 'consumo_total' se recalcula para el caso eléctrico. Así, la herencia no es una copia rígida: es un punto de partida que cada clase especializa según lo que necesita.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Además de la herencia, existe otra forma de combinar clases: la composición. Cuando una propiedad es lo bastante compleja, en vez de guardarla como un valor simple, le damos su propia clase y la usamos como atributo de otra. En el ejemplo, la batería es tan importante que creamos una clase 'Bateria', y luego el 'CocheElectrico' guarda un objeto batería dentro de sí. La forma fácil de recordar la diferencia: la herencia es una relación 'es un' —una moto eléctrica es una moto—; la composición es 'tiene un' —el coche tiene una batería—. Ambas son válidas; elegir bien entre ellas es parte del diseño.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Cerramos la parte de POO con una idea que cambia la forma de ver Python: aquí, todo es un objeto. Un número, un texto, una lista, un set o un diccionario: cada uno es un objeto que trae incorporados sus propios métodos. Dos herramientas para explorarlos: 'dir(objeto)' lista todo lo que ese objeto sabe hacer, y 'help()' nos explica cómo. Vean los ejemplos: un texto tiene 'upper' o 'capitalize'; una lista tiene 'append' y 'extend'; los sets hacen intersecciones; los diccionarios se actualizan con 'update'. Conocer estos métodos les ahorra muchísimo código y es pan de cada día en el análisis de datos.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¿Y cómo conecta todo esto con nuestro proyecto de ciencia de datos? Las mismas piezas que practicamos con la moto son las que van a estructurar un pipeline de datos. Una clase puede encapsular una etapa completa —cargar, limpiar o transformar—, guardando su estado y exponiendo métodos claros, como en este 'Preprocesador'. La herencia nos permite crear familias de transformadores o validadores que comparten un contrato común. Y la composición nos deja ensamblar varias etapas en un flujo reproducible. En otras palabras: lo que hoy parece teoría con motos, mañana es el esqueleto ordenado de su análisis.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Para cerrar, repasemos el hilo de la sesión. Empezamos viendo que el scope y los namespaces explican dónde viven los nombres y cómo Python los encuentra. Sobre esa base, las clases y los objetos nos permiten organizar datos y comportamiento en una sola unidad. Luego, la herencia y la composición nos dejan reutilizar y combinar piezas sin duplicar código. Y descubrimos que en Python todo es un objeto. Dominar esta lógica es la base para construir pipelines de datos claros, mantenibles y reproducibles. Ahora la mejor forma de afianzarlo es practicando: abran el notebook 'Parte práctica de la Semana 2' y ejecuten, modifiquen y rompan el código. ¡Nos vemos en el foro y en la sesión sincrónica para sus dudas!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63A"/>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3A48A"/>
          </a:solidFill>
          <a:ln/>
        </p:spPr>
      </p:sp>
      <p:sp>
        <p:nvSpPr>
          <p:cNvPr id="3" name="Text 1"/>
          <p:cNvSpPr/>
          <p:nvPr/>
        </p:nvSpPr>
        <p:spPr>
          <a:xfrm>
            <a:off x="822960" y="914400"/>
            <a:ext cx="7680960" cy="320040"/>
          </a:xfrm>
          <a:prstGeom prst="rect">
            <a:avLst/>
          </a:prstGeom>
          <a:noFill/>
          <a:ln/>
        </p:spPr>
        <p:txBody>
          <a:bodyPr wrap="square" rtlCol="0" anchor="ctr"/>
          <a:lstStyle/>
          <a:p>
            <a:pPr indent="0" marL="0">
              <a:buNone/>
            </a:pPr>
            <a:r>
              <a:rPr lang="en-US" sz="1300" b="1" spc="200" kern="0" dirty="0">
                <a:solidFill>
                  <a:srgbClr val="8FB7C9"/>
                </a:solidFill>
                <a:latin typeface="Calibri" pitchFamily="34" charset="0"/>
                <a:ea typeface="Calibri" pitchFamily="34" charset="-122"/>
                <a:cs typeface="Calibri" pitchFamily="34" charset="-120"/>
              </a:rPr>
              <a:t>PROGRAMACIÓN PARA CIENCIA DE DATOS · MCDI500</a:t>
            </a:r>
            <a:endParaRPr lang="en-US" sz="1300" dirty="0"/>
          </a:p>
        </p:txBody>
      </p:sp>
      <p:sp>
        <p:nvSpPr>
          <p:cNvPr id="4" name="Text 2"/>
          <p:cNvSpPr/>
          <p:nvPr/>
        </p:nvSpPr>
        <p:spPr>
          <a:xfrm>
            <a:off x="822960" y="1325880"/>
            <a:ext cx="7772400" cy="1280160"/>
          </a:xfrm>
          <a:prstGeom prst="rect">
            <a:avLst/>
          </a:prstGeom>
          <a:noFill/>
          <a:ln/>
        </p:spPr>
        <p:txBody>
          <a:bodyPr wrap="square" rtlCol="0" anchor="ctr"/>
          <a:lstStyle/>
          <a:p>
            <a:pPr indent="0" marL="0">
              <a:lnSpc>
                <a:spcPct val="98000"/>
              </a:lnSpc>
              <a:buNone/>
            </a:pPr>
            <a:r>
              <a:rPr lang="en-US" sz="3800" b="1" dirty="0">
                <a:solidFill>
                  <a:srgbClr val="FFFFFF"/>
                </a:solidFill>
                <a:latin typeface="Trebuchet MS" pitchFamily="34" charset="0"/>
                <a:ea typeface="Trebuchet MS" pitchFamily="34" charset="-122"/>
                <a:cs typeface="Trebuchet MS" pitchFamily="34" charset="-120"/>
              </a:rPr>
              <a:t>Programación Orientada a Objetos en Python</a:t>
            </a:r>
            <a:endParaRPr lang="en-US" sz="3800" dirty="0"/>
          </a:p>
        </p:txBody>
      </p:sp>
      <p:sp>
        <p:nvSpPr>
          <p:cNvPr id="5" name="Text 3"/>
          <p:cNvSpPr/>
          <p:nvPr/>
        </p:nvSpPr>
        <p:spPr>
          <a:xfrm>
            <a:off x="822960" y="3063240"/>
            <a:ext cx="7498080" cy="685800"/>
          </a:xfrm>
          <a:prstGeom prst="rect">
            <a:avLst/>
          </a:prstGeom>
          <a:noFill/>
          <a:ln/>
        </p:spPr>
        <p:txBody>
          <a:bodyPr wrap="square" rtlCol="0" anchor="ctr"/>
          <a:lstStyle/>
          <a:p>
            <a:pPr indent="0" marL="0">
              <a:buNone/>
            </a:pPr>
            <a:r>
              <a:rPr lang="en-US" sz="1500" dirty="0">
                <a:solidFill>
                  <a:srgbClr val="CFE0E8"/>
                </a:solidFill>
                <a:latin typeface="Calibri" pitchFamily="34" charset="0"/>
                <a:ea typeface="Calibri" pitchFamily="34" charset="-122"/>
                <a:cs typeface="Calibri" pitchFamily="34" charset="-120"/>
              </a:rPr>
              <a:t>Parte práctica de la Semana 2 — del scope y los namespaces a la herencia y la composición</a:t>
            </a:r>
            <a:endParaRPr lang="en-US" sz="1500" dirty="0"/>
          </a:p>
        </p:txBody>
      </p:sp>
      <p:sp>
        <p:nvSpPr>
          <p:cNvPr id="6" name="Shape 4"/>
          <p:cNvSpPr/>
          <p:nvPr/>
        </p:nvSpPr>
        <p:spPr>
          <a:xfrm>
            <a:off x="822960" y="4114800"/>
            <a:ext cx="548640" cy="548640"/>
          </a:xfrm>
          <a:prstGeom prst="ellipse">
            <a:avLst/>
          </a:prstGeom>
          <a:solidFill>
            <a:srgbClr val="0E7E69"/>
          </a:solidFill>
          <a:ln/>
        </p:spPr>
      </p:sp>
      <p:pic>
        <p:nvPicPr>
          <p:cNvPr id="7" name="Image 0" descr="preencoded.png">    </p:cNvPr>
          <p:cNvPicPr>
            <a:picLocks noChangeAspect="1"/>
          </p:cNvPicPr>
          <p:nvPr/>
        </p:nvPicPr>
        <p:blipFill>
          <a:blip r:embed="rId1"/>
          <a:stretch>
            <a:fillRect/>
          </a:stretch>
        </p:blipFill>
        <p:spPr>
          <a:xfrm>
            <a:off x="943661" y="4235501"/>
            <a:ext cx="307238" cy="307238"/>
          </a:xfrm>
          <a:prstGeom prst="rect">
            <a:avLst/>
          </a:prstGeom>
        </p:spPr>
      </p:pic>
      <p:sp>
        <p:nvSpPr>
          <p:cNvPr id="8" name="Text 5"/>
          <p:cNvSpPr/>
          <p:nvPr/>
        </p:nvSpPr>
        <p:spPr>
          <a:xfrm>
            <a:off x="1508760" y="4178808"/>
            <a:ext cx="6949440" cy="411480"/>
          </a:xfrm>
          <a:prstGeom prst="rect">
            <a:avLst/>
          </a:prstGeom>
          <a:noFill/>
          <a:ln/>
        </p:spPr>
        <p:txBody>
          <a:bodyPr wrap="square" rtlCol="0" anchor="ctr"/>
          <a:lstStyle/>
          <a:p>
            <a:pPr indent="0" marL="0">
              <a:buNone/>
            </a:pPr>
            <a:r>
              <a:rPr lang="en-US" sz="1150" i="1" dirty="0">
                <a:solidFill>
                  <a:srgbClr val="9FC3D1"/>
                </a:solidFill>
                <a:latin typeface="Calibri" pitchFamily="34" charset="0"/>
                <a:ea typeface="Calibri" pitchFamily="34" charset="-122"/>
                <a:cs typeface="Calibri" pitchFamily="34" charset="-120"/>
              </a:rPr>
              <a:t>Clases · Objetos · self · Atributos · __init__ · Herencia · Composición</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20624"/>
            <a:ext cx="146304" cy="146304"/>
          </a:xfrm>
          <a:prstGeom prst="rect">
            <a:avLst/>
          </a:prstGeom>
          <a:solidFill>
            <a:srgbClr val="13A48A"/>
          </a:solidFill>
          <a:ln/>
        </p:spPr>
      </p:sp>
      <p:sp>
        <p:nvSpPr>
          <p:cNvPr id="3" name="Text 1"/>
          <p:cNvSpPr/>
          <p:nvPr/>
        </p:nvSpPr>
        <p:spPr>
          <a:xfrm>
            <a:off x="676656" y="365760"/>
            <a:ext cx="7955280" cy="274320"/>
          </a:xfrm>
          <a:prstGeom prst="rect">
            <a:avLst/>
          </a:prstGeom>
          <a:noFill/>
          <a:ln/>
        </p:spPr>
        <p:txBody>
          <a:bodyPr wrap="square" lIns="0" tIns="0" rIns="0" bIns="0" rtlCol="0" anchor="ctr"/>
          <a:lstStyle/>
          <a:p>
            <a:pPr indent="0" marL="0">
              <a:buNone/>
            </a:pPr>
            <a:r>
              <a:rPr lang="en-US" sz="1100" b="1" spc="200" kern="0" dirty="0">
                <a:solidFill>
                  <a:srgbClr val="0E7E69"/>
                </a:solidFill>
                <a:latin typeface="Calibri" pitchFamily="34" charset="0"/>
                <a:ea typeface="Calibri" pitchFamily="34" charset="-122"/>
                <a:cs typeface="Calibri" pitchFamily="34" charset="-120"/>
              </a:rPr>
              <a:t>MAPA DE LA SESIÓN</a:t>
            </a:r>
            <a:endParaRPr lang="en-US" sz="1100" dirty="0"/>
          </a:p>
        </p:txBody>
      </p:sp>
      <p:sp>
        <p:nvSpPr>
          <p:cNvPr id="4" name="Text 2"/>
          <p:cNvSpPr/>
          <p:nvPr/>
        </p:nvSpPr>
        <p:spPr>
          <a:xfrm>
            <a:off x="457200" y="658368"/>
            <a:ext cx="8229600" cy="640080"/>
          </a:xfrm>
          <a:prstGeom prst="rect">
            <a:avLst/>
          </a:prstGeom>
          <a:noFill/>
          <a:ln/>
        </p:spPr>
        <p:txBody>
          <a:bodyPr wrap="square" lIns="0" tIns="0" rIns="0" bIns="0" rtlCol="0" anchor="ctr"/>
          <a:lstStyle/>
          <a:p>
            <a:pPr indent="0" marL="0">
              <a:buNone/>
            </a:pPr>
            <a:r>
              <a:rPr lang="en-US" sz="2600" b="1" dirty="0">
                <a:solidFill>
                  <a:srgbClr val="16263A"/>
                </a:solidFill>
                <a:latin typeface="Trebuchet MS" pitchFamily="34" charset="0"/>
                <a:ea typeface="Trebuchet MS" pitchFamily="34" charset="-122"/>
                <a:cs typeface="Trebuchet MS" pitchFamily="34" charset="-120"/>
              </a:rPr>
              <a:t>Lo que recorre el notebook práctico</a:t>
            </a:r>
            <a:endParaRPr lang="en-US" sz="2600" dirty="0"/>
          </a:p>
        </p:txBody>
      </p:sp>
      <p:sp>
        <p:nvSpPr>
          <p:cNvPr id="5" name="Shape 3"/>
          <p:cNvSpPr/>
          <p:nvPr/>
        </p:nvSpPr>
        <p:spPr>
          <a:xfrm>
            <a:off x="457200" y="1645920"/>
            <a:ext cx="2743200" cy="2651760"/>
          </a:xfrm>
          <a:prstGeom prst="rect">
            <a:avLst/>
          </a:prstGeom>
          <a:solidFill>
            <a:srgbClr val="FFFFFF"/>
          </a:solidFill>
          <a:ln w="12700">
            <a:solidFill>
              <a:srgbClr val="D8E0E6"/>
            </a:solidFill>
            <a:prstDash val="solid"/>
          </a:ln>
          <a:effectLst>
            <a:outerShdw sx="100000" sy="100000" kx="0" ky="0" algn="bl" rotWithShape="0" blurRad="88900" dist="38100" dir="8100000">
              <a:srgbClr val="000000">
                <a:alpha val="13000"/>
              </a:srgbClr>
            </a:outerShdw>
          </a:effectLst>
        </p:spPr>
      </p:sp>
      <p:sp>
        <p:nvSpPr>
          <p:cNvPr id="6" name="Shape 4"/>
          <p:cNvSpPr/>
          <p:nvPr/>
        </p:nvSpPr>
        <p:spPr>
          <a:xfrm>
            <a:off x="457200" y="1645920"/>
            <a:ext cx="64008" cy="2651760"/>
          </a:xfrm>
          <a:prstGeom prst="rect">
            <a:avLst/>
          </a:prstGeom>
          <a:solidFill>
            <a:srgbClr val="13A48A"/>
          </a:solidFill>
          <a:ln/>
        </p:spPr>
      </p:sp>
      <p:sp>
        <p:nvSpPr>
          <p:cNvPr id="7" name="Shape 5"/>
          <p:cNvSpPr/>
          <p:nvPr/>
        </p:nvSpPr>
        <p:spPr>
          <a:xfrm>
            <a:off x="694944" y="1920240"/>
            <a:ext cx="603504" cy="603504"/>
          </a:xfrm>
          <a:prstGeom prst="ellipse">
            <a:avLst/>
          </a:prstGeom>
          <a:solidFill>
            <a:srgbClr val="EEF3F6"/>
          </a:solidFill>
          <a:ln/>
        </p:spPr>
      </p:sp>
      <p:pic>
        <p:nvPicPr>
          <p:cNvPr id="8" name="Image 0" descr="preencoded.png">    </p:cNvPr>
          <p:cNvPicPr>
            <a:picLocks noChangeAspect="1"/>
          </p:cNvPicPr>
          <p:nvPr/>
        </p:nvPicPr>
        <p:blipFill>
          <a:blip r:embed="rId1"/>
          <a:stretch>
            <a:fillRect/>
          </a:stretch>
        </p:blipFill>
        <p:spPr>
          <a:xfrm>
            <a:off x="827715" y="2053011"/>
            <a:ext cx="337962" cy="337962"/>
          </a:xfrm>
          <a:prstGeom prst="rect">
            <a:avLst/>
          </a:prstGeom>
        </p:spPr>
      </p:pic>
      <p:sp>
        <p:nvSpPr>
          <p:cNvPr id="9" name="Text 6"/>
          <p:cNvSpPr/>
          <p:nvPr/>
        </p:nvSpPr>
        <p:spPr>
          <a:xfrm>
            <a:off x="658368" y="2651760"/>
            <a:ext cx="2377440" cy="777240"/>
          </a:xfrm>
          <a:prstGeom prst="rect">
            <a:avLst/>
          </a:prstGeom>
          <a:noFill/>
          <a:ln/>
        </p:spPr>
        <p:txBody>
          <a:bodyPr wrap="square" rtlCol="0" anchor="t"/>
          <a:lstStyle/>
          <a:p>
            <a:pPr indent="0" marL="0">
              <a:lnSpc>
                <a:spcPct val="96000"/>
              </a:lnSpc>
              <a:buNone/>
            </a:pPr>
            <a:r>
              <a:rPr lang="en-US" sz="1550" b="1" dirty="0">
                <a:solidFill>
                  <a:srgbClr val="16263A"/>
                </a:solidFill>
                <a:latin typeface="Trebuchet MS" pitchFamily="34" charset="0"/>
                <a:ea typeface="Trebuchet MS" pitchFamily="34" charset="-122"/>
                <a:cs typeface="Trebuchet MS" pitchFamily="34" charset="-120"/>
              </a:rPr>
              <a:t>I. Scope y namespaces</a:t>
            </a:r>
            <a:endParaRPr lang="en-US" sz="1550" dirty="0"/>
          </a:p>
        </p:txBody>
      </p:sp>
      <p:sp>
        <p:nvSpPr>
          <p:cNvPr id="10" name="Text 7"/>
          <p:cNvSpPr/>
          <p:nvPr/>
        </p:nvSpPr>
        <p:spPr>
          <a:xfrm>
            <a:off x="658368" y="3429000"/>
            <a:ext cx="2359152" cy="777240"/>
          </a:xfrm>
          <a:prstGeom prst="rect">
            <a:avLst/>
          </a:prstGeom>
          <a:noFill/>
          <a:ln/>
        </p:spPr>
        <p:txBody>
          <a:bodyPr wrap="square" rtlCol="0" anchor="t"/>
          <a:lstStyle/>
          <a:p>
            <a:pPr indent="0" marL="0">
              <a:lnSpc>
                <a:spcPct val="104000"/>
              </a:lnSpc>
              <a:buNone/>
            </a:pPr>
            <a:r>
              <a:rPr lang="en-US" sz="1150" dirty="0">
                <a:solidFill>
                  <a:srgbClr val="3E5C76"/>
                </a:solidFill>
                <a:latin typeface="Calibri" pitchFamily="34" charset="0"/>
                <a:ea typeface="Calibri" pitchFamily="34" charset="-122"/>
                <a:cs typeface="Calibri" pitchFamily="34" charset="-120"/>
              </a:rPr>
              <a:t>Dónde viven los nombres y desde dónde se usan.</a:t>
            </a:r>
            <a:endParaRPr lang="en-US" sz="1150" dirty="0"/>
          </a:p>
        </p:txBody>
      </p:sp>
      <p:sp>
        <p:nvSpPr>
          <p:cNvPr id="11" name="Shape 8"/>
          <p:cNvSpPr/>
          <p:nvPr/>
        </p:nvSpPr>
        <p:spPr>
          <a:xfrm>
            <a:off x="3383280" y="1645920"/>
            <a:ext cx="2743200" cy="2651760"/>
          </a:xfrm>
          <a:prstGeom prst="rect">
            <a:avLst/>
          </a:prstGeom>
          <a:solidFill>
            <a:srgbClr val="FFFFFF"/>
          </a:solidFill>
          <a:ln w="12700">
            <a:solidFill>
              <a:srgbClr val="D8E0E6"/>
            </a:solidFill>
            <a:prstDash val="solid"/>
          </a:ln>
          <a:effectLst>
            <a:outerShdw sx="100000" sy="100000" kx="0" ky="0" algn="bl" rotWithShape="0" blurRad="88900" dist="38100" dir="8100000">
              <a:srgbClr val="000000">
                <a:alpha val="13000"/>
              </a:srgbClr>
            </a:outerShdw>
          </a:effectLst>
        </p:spPr>
      </p:sp>
      <p:sp>
        <p:nvSpPr>
          <p:cNvPr id="12" name="Shape 9"/>
          <p:cNvSpPr/>
          <p:nvPr/>
        </p:nvSpPr>
        <p:spPr>
          <a:xfrm>
            <a:off x="3383280" y="1645920"/>
            <a:ext cx="64008" cy="2651760"/>
          </a:xfrm>
          <a:prstGeom prst="rect">
            <a:avLst/>
          </a:prstGeom>
          <a:solidFill>
            <a:srgbClr val="E0654A"/>
          </a:solidFill>
          <a:ln/>
        </p:spPr>
      </p:sp>
      <p:sp>
        <p:nvSpPr>
          <p:cNvPr id="13" name="Shape 10"/>
          <p:cNvSpPr/>
          <p:nvPr/>
        </p:nvSpPr>
        <p:spPr>
          <a:xfrm>
            <a:off x="3621024" y="1920240"/>
            <a:ext cx="603504" cy="603504"/>
          </a:xfrm>
          <a:prstGeom prst="ellipse">
            <a:avLst/>
          </a:prstGeom>
          <a:solidFill>
            <a:srgbClr val="EEF3F6"/>
          </a:solidFill>
          <a:ln/>
        </p:spPr>
      </p:sp>
      <p:pic>
        <p:nvPicPr>
          <p:cNvPr id="14" name="Image 1" descr="preencoded.png">    </p:cNvPr>
          <p:cNvPicPr>
            <a:picLocks noChangeAspect="1"/>
          </p:cNvPicPr>
          <p:nvPr/>
        </p:nvPicPr>
        <p:blipFill>
          <a:blip r:embed="rId2"/>
          <a:stretch>
            <a:fillRect/>
          </a:stretch>
        </p:blipFill>
        <p:spPr>
          <a:xfrm>
            <a:off x="3753795" y="2053011"/>
            <a:ext cx="337962" cy="337962"/>
          </a:xfrm>
          <a:prstGeom prst="rect">
            <a:avLst/>
          </a:prstGeom>
        </p:spPr>
      </p:pic>
      <p:sp>
        <p:nvSpPr>
          <p:cNvPr id="15" name="Text 11"/>
          <p:cNvSpPr/>
          <p:nvPr/>
        </p:nvSpPr>
        <p:spPr>
          <a:xfrm>
            <a:off x="3584448" y="2651760"/>
            <a:ext cx="2377440" cy="777240"/>
          </a:xfrm>
          <a:prstGeom prst="rect">
            <a:avLst/>
          </a:prstGeom>
          <a:noFill/>
          <a:ln/>
        </p:spPr>
        <p:txBody>
          <a:bodyPr wrap="square" rtlCol="0" anchor="t"/>
          <a:lstStyle/>
          <a:p>
            <a:pPr indent="0" marL="0">
              <a:lnSpc>
                <a:spcPct val="96000"/>
              </a:lnSpc>
              <a:buNone/>
            </a:pPr>
            <a:r>
              <a:rPr lang="en-US" sz="1550" b="1" dirty="0">
                <a:solidFill>
                  <a:srgbClr val="16263A"/>
                </a:solidFill>
                <a:latin typeface="Trebuchet MS" pitchFamily="34" charset="0"/>
                <a:ea typeface="Trebuchet MS" pitchFamily="34" charset="-122"/>
                <a:cs typeface="Trebuchet MS" pitchFamily="34" charset="-120"/>
              </a:rPr>
              <a:t>II. Programación Orientada a Objetos</a:t>
            </a:r>
            <a:endParaRPr lang="en-US" sz="1550" dirty="0"/>
          </a:p>
        </p:txBody>
      </p:sp>
      <p:sp>
        <p:nvSpPr>
          <p:cNvPr id="16" name="Text 12"/>
          <p:cNvSpPr/>
          <p:nvPr/>
        </p:nvSpPr>
        <p:spPr>
          <a:xfrm>
            <a:off x="3584448" y="3429000"/>
            <a:ext cx="2359152" cy="777240"/>
          </a:xfrm>
          <a:prstGeom prst="rect">
            <a:avLst/>
          </a:prstGeom>
          <a:noFill/>
          <a:ln/>
        </p:spPr>
        <p:txBody>
          <a:bodyPr wrap="square" rtlCol="0" anchor="t"/>
          <a:lstStyle/>
          <a:p>
            <a:pPr indent="0" marL="0">
              <a:lnSpc>
                <a:spcPct val="104000"/>
              </a:lnSpc>
              <a:buNone/>
            </a:pPr>
            <a:r>
              <a:rPr lang="en-US" sz="1150" dirty="0">
                <a:solidFill>
                  <a:srgbClr val="3E5C76"/>
                </a:solidFill>
                <a:latin typeface="Calibri" pitchFamily="34" charset="0"/>
                <a:ea typeface="Calibri" pitchFamily="34" charset="-122"/>
                <a:cs typeface="Calibri" pitchFamily="34" charset="-120"/>
              </a:rPr>
              <a:t>Clases, objetos, métodos, atributos, herencia y composición.</a:t>
            </a:r>
            <a:endParaRPr lang="en-US" sz="1150" dirty="0"/>
          </a:p>
        </p:txBody>
      </p:sp>
      <p:sp>
        <p:nvSpPr>
          <p:cNvPr id="17" name="Shape 13"/>
          <p:cNvSpPr/>
          <p:nvPr/>
        </p:nvSpPr>
        <p:spPr>
          <a:xfrm>
            <a:off x="6309360" y="1645920"/>
            <a:ext cx="2743200" cy="2651760"/>
          </a:xfrm>
          <a:prstGeom prst="rect">
            <a:avLst/>
          </a:prstGeom>
          <a:solidFill>
            <a:srgbClr val="FFFFFF"/>
          </a:solidFill>
          <a:ln w="12700">
            <a:solidFill>
              <a:srgbClr val="D8E0E6"/>
            </a:solidFill>
            <a:prstDash val="solid"/>
          </a:ln>
          <a:effectLst>
            <a:outerShdw sx="100000" sy="100000" kx="0" ky="0" algn="bl" rotWithShape="0" blurRad="88900" dist="38100" dir="8100000">
              <a:srgbClr val="000000">
                <a:alpha val="13000"/>
              </a:srgbClr>
            </a:outerShdw>
          </a:effectLst>
        </p:spPr>
      </p:sp>
      <p:sp>
        <p:nvSpPr>
          <p:cNvPr id="18" name="Shape 14"/>
          <p:cNvSpPr/>
          <p:nvPr/>
        </p:nvSpPr>
        <p:spPr>
          <a:xfrm>
            <a:off x="6309360" y="1645920"/>
            <a:ext cx="64008" cy="2651760"/>
          </a:xfrm>
          <a:prstGeom prst="rect">
            <a:avLst/>
          </a:prstGeom>
          <a:solidFill>
            <a:srgbClr val="13A48A"/>
          </a:solidFill>
          <a:ln/>
        </p:spPr>
      </p:sp>
      <p:sp>
        <p:nvSpPr>
          <p:cNvPr id="19" name="Shape 15"/>
          <p:cNvSpPr/>
          <p:nvPr/>
        </p:nvSpPr>
        <p:spPr>
          <a:xfrm>
            <a:off x="6547104" y="1920240"/>
            <a:ext cx="603504" cy="603504"/>
          </a:xfrm>
          <a:prstGeom prst="ellipse">
            <a:avLst/>
          </a:prstGeom>
          <a:solidFill>
            <a:srgbClr val="EEF3F6"/>
          </a:solidFill>
          <a:ln/>
        </p:spPr>
      </p:sp>
      <p:pic>
        <p:nvPicPr>
          <p:cNvPr id="20" name="Image 2" descr="preencoded.png">    </p:cNvPr>
          <p:cNvPicPr>
            <a:picLocks noChangeAspect="1"/>
          </p:cNvPicPr>
          <p:nvPr/>
        </p:nvPicPr>
        <p:blipFill>
          <a:blip r:embed="rId3"/>
          <a:stretch>
            <a:fillRect/>
          </a:stretch>
        </p:blipFill>
        <p:spPr>
          <a:xfrm>
            <a:off x="6679875" y="2053011"/>
            <a:ext cx="337962" cy="337962"/>
          </a:xfrm>
          <a:prstGeom prst="rect">
            <a:avLst/>
          </a:prstGeom>
        </p:spPr>
      </p:pic>
      <p:sp>
        <p:nvSpPr>
          <p:cNvPr id="21" name="Text 16"/>
          <p:cNvSpPr/>
          <p:nvPr/>
        </p:nvSpPr>
        <p:spPr>
          <a:xfrm>
            <a:off x="6510528" y="2651760"/>
            <a:ext cx="2377440" cy="777240"/>
          </a:xfrm>
          <a:prstGeom prst="rect">
            <a:avLst/>
          </a:prstGeom>
          <a:noFill/>
          <a:ln/>
        </p:spPr>
        <p:txBody>
          <a:bodyPr wrap="square" rtlCol="0" anchor="t"/>
          <a:lstStyle/>
          <a:p>
            <a:pPr indent="0" marL="0">
              <a:lnSpc>
                <a:spcPct val="96000"/>
              </a:lnSpc>
              <a:buNone/>
            </a:pPr>
            <a:r>
              <a:rPr lang="en-US" sz="1550" b="1" dirty="0">
                <a:solidFill>
                  <a:srgbClr val="16263A"/>
                </a:solidFill>
                <a:latin typeface="Trebuchet MS" pitchFamily="34" charset="0"/>
                <a:ea typeface="Trebuchet MS" pitchFamily="34" charset="-122"/>
                <a:cs typeface="Trebuchet MS" pitchFamily="34" charset="-120"/>
              </a:rPr>
              <a:t>III. Manipulación de objetos</a:t>
            </a:r>
            <a:endParaRPr lang="en-US" sz="1550" dirty="0"/>
          </a:p>
        </p:txBody>
      </p:sp>
      <p:sp>
        <p:nvSpPr>
          <p:cNvPr id="22" name="Text 17"/>
          <p:cNvSpPr/>
          <p:nvPr/>
        </p:nvSpPr>
        <p:spPr>
          <a:xfrm>
            <a:off x="6510528" y="3429000"/>
            <a:ext cx="2359152" cy="777240"/>
          </a:xfrm>
          <a:prstGeom prst="rect">
            <a:avLst/>
          </a:prstGeom>
          <a:noFill/>
          <a:ln/>
        </p:spPr>
        <p:txBody>
          <a:bodyPr wrap="square" rtlCol="0" anchor="t"/>
          <a:lstStyle/>
          <a:p>
            <a:pPr indent="0" marL="0">
              <a:lnSpc>
                <a:spcPct val="104000"/>
              </a:lnSpc>
              <a:buNone/>
            </a:pPr>
            <a:r>
              <a:rPr lang="en-US" sz="1150" dirty="0">
                <a:solidFill>
                  <a:srgbClr val="3E5C76"/>
                </a:solidFill>
                <a:latin typeface="Calibri" pitchFamily="34" charset="0"/>
                <a:ea typeface="Calibri" pitchFamily="34" charset="-122"/>
                <a:cs typeface="Calibri" pitchFamily="34" charset="-120"/>
              </a:rPr>
              <a:t>Todo en Python es un objeto con sus propios métodos.</a:t>
            </a:r>
            <a:endParaRPr lang="en-US" sz="1150" dirty="0"/>
          </a:p>
        </p:txBody>
      </p:sp>
      <p:sp>
        <p:nvSpPr>
          <p:cNvPr id="23" name="Text 18"/>
          <p:cNvSpPr/>
          <p:nvPr/>
        </p:nvSpPr>
        <p:spPr>
          <a:xfrm>
            <a:off x="457200" y="4828032"/>
            <a:ext cx="5943600" cy="228600"/>
          </a:xfrm>
          <a:prstGeom prst="rect">
            <a:avLst/>
          </a:prstGeom>
          <a:noFill/>
          <a:ln/>
        </p:spPr>
        <p:txBody>
          <a:bodyPr wrap="square" rtlCol="0" anchor="ctr"/>
          <a:lstStyle/>
          <a:p>
            <a:pPr indent="0" marL="0">
              <a:buNone/>
            </a:pPr>
            <a:r>
              <a:rPr lang="en-US" sz="800" dirty="0">
                <a:solidFill>
                  <a:srgbClr val="6B7B8C"/>
                </a:solidFill>
                <a:latin typeface="Calibri" pitchFamily="34" charset="0"/>
                <a:ea typeface="Calibri" pitchFamily="34" charset="-122"/>
                <a:cs typeface="Calibri" pitchFamily="34" charset="-120"/>
              </a:rPr>
              <a:t>POO en Python · Parte práctica · Semana 2 · MCDI500</a:t>
            </a:r>
            <a:endParaRPr lang="en-US" sz="800" dirty="0"/>
          </a:p>
        </p:txBody>
      </p:sp>
      <p:sp>
        <p:nvSpPr>
          <p:cNvPr id="24" name="Text 19"/>
          <p:cNvSpPr/>
          <p:nvPr/>
        </p:nvSpPr>
        <p:spPr>
          <a:xfrm>
            <a:off x="8321040" y="4828032"/>
            <a:ext cx="365760" cy="228600"/>
          </a:xfrm>
          <a:prstGeom prst="rect">
            <a:avLst/>
          </a:prstGeom>
          <a:noFill/>
          <a:ln/>
        </p:spPr>
        <p:txBody>
          <a:bodyPr wrap="square" rtlCol="0" anchor="ctr"/>
          <a:lstStyle/>
          <a:p>
            <a:pPr algn="r" indent="0" marL="0">
              <a:buNone/>
            </a:pPr>
            <a:r>
              <a:rPr lang="en-US" sz="900" dirty="0">
                <a:solidFill>
                  <a:srgbClr val="6B7B8C"/>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20624"/>
            <a:ext cx="146304" cy="146304"/>
          </a:xfrm>
          <a:prstGeom prst="rect">
            <a:avLst/>
          </a:prstGeom>
          <a:solidFill>
            <a:srgbClr val="13A48A"/>
          </a:solidFill>
          <a:ln/>
        </p:spPr>
      </p:sp>
      <p:sp>
        <p:nvSpPr>
          <p:cNvPr id="3" name="Text 1"/>
          <p:cNvSpPr/>
          <p:nvPr/>
        </p:nvSpPr>
        <p:spPr>
          <a:xfrm>
            <a:off x="676656" y="365760"/>
            <a:ext cx="7955280" cy="274320"/>
          </a:xfrm>
          <a:prstGeom prst="rect">
            <a:avLst/>
          </a:prstGeom>
          <a:noFill/>
          <a:ln/>
        </p:spPr>
        <p:txBody>
          <a:bodyPr wrap="square" lIns="0" tIns="0" rIns="0" bIns="0" rtlCol="0" anchor="ctr"/>
          <a:lstStyle/>
          <a:p>
            <a:pPr indent="0" marL="0">
              <a:buNone/>
            </a:pPr>
            <a:r>
              <a:rPr lang="en-US" sz="1100" b="1" spc="200" kern="0" dirty="0">
                <a:solidFill>
                  <a:srgbClr val="0E7E69"/>
                </a:solidFill>
                <a:latin typeface="Calibri" pitchFamily="34" charset="0"/>
                <a:ea typeface="Calibri" pitchFamily="34" charset="-122"/>
                <a:cs typeface="Calibri" pitchFamily="34" charset="-120"/>
              </a:rPr>
              <a:t>I. FUNDAMENTO</a:t>
            </a:r>
            <a:endParaRPr lang="en-US" sz="1100" dirty="0"/>
          </a:p>
        </p:txBody>
      </p:sp>
      <p:sp>
        <p:nvSpPr>
          <p:cNvPr id="4" name="Text 2"/>
          <p:cNvSpPr/>
          <p:nvPr/>
        </p:nvSpPr>
        <p:spPr>
          <a:xfrm>
            <a:off x="457200" y="658368"/>
            <a:ext cx="8229600" cy="640080"/>
          </a:xfrm>
          <a:prstGeom prst="rect">
            <a:avLst/>
          </a:prstGeom>
          <a:noFill/>
          <a:ln/>
        </p:spPr>
        <p:txBody>
          <a:bodyPr wrap="square" lIns="0" tIns="0" rIns="0" bIns="0" rtlCol="0" anchor="ctr"/>
          <a:lstStyle/>
          <a:p>
            <a:pPr indent="0" marL="0">
              <a:buNone/>
            </a:pPr>
            <a:r>
              <a:rPr lang="en-US" sz="2600" b="1" dirty="0">
                <a:solidFill>
                  <a:srgbClr val="16263A"/>
                </a:solidFill>
                <a:latin typeface="Trebuchet MS" pitchFamily="34" charset="0"/>
                <a:ea typeface="Trebuchet MS" pitchFamily="34" charset="-122"/>
                <a:cs typeface="Trebuchet MS" pitchFamily="34" charset="-120"/>
              </a:rPr>
              <a:t>Scope: desde dónde se puede usar una variable</a:t>
            </a:r>
            <a:endParaRPr lang="en-US" sz="2600" dirty="0"/>
          </a:p>
        </p:txBody>
      </p:sp>
      <p:sp>
        <p:nvSpPr>
          <p:cNvPr id="5" name="Shape 3"/>
          <p:cNvSpPr/>
          <p:nvPr/>
        </p:nvSpPr>
        <p:spPr>
          <a:xfrm>
            <a:off x="457200" y="1554480"/>
            <a:ext cx="4023360" cy="2834640"/>
          </a:xfrm>
          <a:prstGeom prst="rect">
            <a:avLst/>
          </a:prstGeom>
          <a:solidFill>
            <a:srgbClr val="FFFFFF"/>
          </a:solidFill>
          <a:ln w="12700">
            <a:solidFill>
              <a:srgbClr val="D8E0E6"/>
            </a:solidFill>
            <a:prstDash val="solid"/>
          </a:ln>
          <a:effectLst>
            <a:outerShdw sx="100000" sy="100000" kx="0" ky="0" algn="bl" rotWithShape="0" blurRad="88900" dist="38100" dir="8100000">
              <a:srgbClr val="000000">
                <a:alpha val="13000"/>
              </a:srgbClr>
            </a:outerShdw>
          </a:effectLst>
        </p:spPr>
      </p:sp>
      <p:sp>
        <p:nvSpPr>
          <p:cNvPr id="6" name="Shape 4"/>
          <p:cNvSpPr/>
          <p:nvPr/>
        </p:nvSpPr>
        <p:spPr>
          <a:xfrm>
            <a:off x="457200" y="1554480"/>
            <a:ext cx="64008" cy="2834640"/>
          </a:xfrm>
          <a:prstGeom prst="rect">
            <a:avLst/>
          </a:prstGeom>
          <a:solidFill>
            <a:srgbClr val="13A48A"/>
          </a:solidFill>
          <a:ln/>
        </p:spPr>
      </p:sp>
      <p:sp>
        <p:nvSpPr>
          <p:cNvPr id="7" name="Text 5"/>
          <p:cNvSpPr/>
          <p:nvPr/>
        </p:nvSpPr>
        <p:spPr>
          <a:xfrm>
            <a:off x="713232" y="1783080"/>
            <a:ext cx="3611880" cy="457200"/>
          </a:xfrm>
          <a:prstGeom prst="rect">
            <a:avLst/>
          </a:prstGeom>
          <a:noFill/>
          <a:ln/>
        </p:spPr>
        <p:txBody>
          <a:bodyPr wrap="square" rtlCol="0" anchor="t"/>
          <a:lstStyle/>
          <a:p>
            <a:pPr indent="0" marL="0">
              <a:buNone/>
            </a:pPr>
            <a:r>
              <a:rPr lang="en-US" sz="1400" b="1" dirty="0">
                <a:solidFill>
                  <a:srgbClr val="16263A"/>
                </a:solidFill>
                <a:latin typeface="Trebuchet MS" pitchFamily="34" charset="0"/>
                <a:ea typeface="Trebuchet MS" pitchFamily="34" charset="-122"/>
                <a:cs typeface="Trebuchet MS" pitchFamily="34" charset="-120"/>
              </a:rPr>
              <a:t>El scope (ámbito) define el alcance de un nombre.</a:t>
            </a:r>
            <a:endParaRPr lang="en-US" sz="1400" dirty="0"/>
          </a:p>
        </p:txBody>
      </p:sp>
      <p:sp>
        <p:nvSpPr>
          <p:cNvPr id="8" name="Text 6"/>
          <p:cNvSpPr/>
          <p:nvPr/>
        </p:nvSpPr>
        <p:spPr>
          <a:xfrm>
            <a:off x="749808" y="2331720"/>
            <a:ext cx="3611880" cy="1828800"/>
          </a:xfrm>
          <a:prstGeom prst="rect">
            <a:avLst/>
          </a:prstGeom>
          <a:noFill/>
          <a:ln/>
        </p:spPr>
        <p:txBody>
          <a:bodyPr wrap="square" rtlCol="0" anchor="t"/>
          <a:lstStyle/>
          <a:p>
            <a:pPr marL="342900" indent="-342900">
              <a:lnSpc>
                <a:spcPct val="103000"/>
              </a:lnSpc>
              <a:spcAft>
                <a:spcPts val="600"/>
              </a:spcAft>
              <a:buSzPct val="100000"/>
              <a:buChar char="•"/>
            </a:pPr>
            <a:r>
              <a:rPr lang="en-US" sz="1200" dirty="0">
                <a:solidFill>
                  <a:srgbClr val="3E5C76"/>
                </a:solidFill>
                <a:latin typeface="Calibri" pitchFamily="34" charset="0"/>
                <a:ea typeface="Calibri" pitchFamily="34" charset="-122"/>
                <a:cs typeface="Calibri" pitchFamily="34" charset="-120"/>
              </a:rPr>
              <a:t>Una variable creada dentro de una función es local: solo existe ahí.</a:t>
            </a:r>
            <a:endParaRPr lang="en-US" sz="1200" dirty="0"/>
          </a:p>
          <a:p>
            <a:pPr marL="342900" indent="-342900">
              <a:lnSpc>
                <a:spcPct val="103000"/>
              </a:lnSpc>
              <a:spcAft>
                <a:spcPts val="600"/>
              </a:spcAft>
              <a:buSzPct val="100000"/>
              <a:buChar char="•"/>
            </a:pPr>
            <a:r>
              <a:rPr lang="en-US" sz="1200" dirty="0">
                <a:solidFill>
                  <a:srgbClr val="3E5C76"/>
                </a:solidFill>
                <a:latin typeface="Calibri" pitchFamily="34" charset="0"/>
                <a:ea typeface="Calibri" pitchFamily="34" charset="-122"/>
                <a:cs typeface="Calibri" pitchFamily="34" charset="-120"/>
              </a:rPr>
              <a:t>Fuera de su scope, Python no la reconoce (NameError).</a:t>
            </a:r>
            <a:endParaRPr lang="en-US" sz="1200" dirty="0"/>
          </a:p>
          <a:p>
            <a:pPr marL="342900" indent="-342900">
              <a:lnSpc>
                <a:spcPct val="103000"/>
              </a:lnSpc>
              <a:spcAft>
                <a:spcPts val="600"/>
              </a:spcAft>
              <a:buSzPct val="100000"/>
              <a:buChar char="•"/>
            </a:pPr>
            <a:r>
              <a:rPr lang="en-US" sz="1200" dirty="0">
                <a:solidFill>
                  <a:srgbClr val="3E5C76"/>
                </a:solidFill>
                <a:latin typeface="Calibri" pitchFamily="34" charset="0"/>
                <a:ea typeface="Calibri" pitchFamily="34" charset="-122"/>
                <a:cs typeface="Calibri" pitchFamily="34" charset="-120"/>
              </a:rPr>
              <a:t>Entender el scope evita errores silenciosos.</a:t>
            </a:r>
            <a:endParaRPr lang="en-US" sz="1200" dirty="0"/>
          </a:p>
        </p:txBody>
      </p:sp>
      <p:sp>
        <p:nvSpPr>
          <p:cNvPr id="9" name="Shape 7"/>
          <p:cNvSpPr/>
          <p:nvPr/>
        </p:nvSpPr>
        <p:spPr>
          <a:xfrm>
            <a:off x="4800600" y="1554480"/>
            <a:ext cx="3886200" cy="2834640"/>
          </a:xfrm>
          <a:prstGeom prst="rect">
            <a:avLst/>
          </a:prstGeom>
          <a:solidFill>
            <a:srgbClr val="0F2233"/>
          </a:solidFill>
          <a:ln/>
          <a:effectLst>
            <a:outerShdw sx="100000" sy="100000" kx="0" ky="0" algn="bl" rotWithShape="0" blurRad="88900" dist="38100" dir="8100000">
              <a:srgbClr val="000000">
                <a:alpha val="13000"/>
              </a:srgbClr>
            </a:outerShdw>
          </a:effectLst>
        </p:spPr>
      </p:sp>
      <p:sp>
        <p:nvSpPr>
          <p:cNvPr id="10" name="Shape 8"/>
          <p:cNvSpPr/>
          <p:nvPr/>
        </p:nvSpPr>
        <p:spPr>
          <a:xfrm>
            <a:off x="4800600" y="1554480"/>
            <a:ext cx="64008" cy="2834640"/>
          </a:xfrm>
          <a:prstGeom prst="rect">
            <a:avLst/>
          </a:prstGeom>
          <a:solidFill>
            <a:srgbClr val="13A48A"/>
          </a:solidFill>
          <a:ln/>
        </p:spPr>
      </p:sp>
      <p:sp>
        <p:nvSpPr>
          <p:cNvPr id="11" name="Text 9"/>
          <p:cNvSpPr/>
          <p:nvPr/>
        </p:nvSpPr>
        <p:spPr>
          <a:xfrm>
            <a:off x="4983480" y="1664208"/>
            <a:ext cx="3566160" cy="2615184"/>
          </a:xfrm>
          <a:prstGeom prst="rect">
            <a:avLst/>
          </a:prstGeom>
          <a:noFill/>
          <a:ln/>
        </p:spPr>
        <p:txBody>
          <a:bodyPr wrap="square" lIns="0" tIns="0" rIns="0" bIns="0" rtlCol="0" anchor="t"/>
          <a:lstStyle/>
          <a:p>
            <a:pPr indent="0" marL="0">
              <a:lnSpc>
                <a:spcPct val="105000"/>
              </a:lnSpc>
              <a:buNone/>
            </a:pPr>
            <a:r>
              <a:rPr lang="en-US" sz="950" dirty="0">
                <a:solidFill>
                  <a:srgbClr val="CFE8E1"/>
                </a:solidFill>
                <a:latin typeface="Consolas" pitchFamily="34" charset="0"/>
                <a:ea typeface="Consolas" pitchFamily="34" charset="-122"/>
                <a:cs typeface="Consolas" pitchFamily="34" charset="-120"/>
              </a:rPr>
              <a:t>def saludar():</a:t>
            </a:r>
            <a:endParaRPr lang="en-US" sz="950" dirty="0"/>
          </a:p>
          <a:p>
            <a:pPr indent="0" marL="0">
              <a:lnSpc>
                <a:spcPct val="105000"/>
              </a:lnSpc>
              <a:buNone/>
            </a:pPr>
            <a:r>
              <a:rPr lang="en-US" sz="950" dirty="0">
                <a:solidFill>
                  <a:srgbClr val="CFE8E1"/>
                </a:solidFill>
                <a:latin typeface="Consolas" pitchFamily="34" charset="0"/>
                <a:ea typeface="Consolas" pitchFamily="34" charset="-122"/>
                <a:cs typeface="Consolas" pitchFamily="34" charset="-120"/>
              </a:rPr>
              <a:t>    mensaje = 'Hola'   # scope local</a:t>
            </a:r>
            <a:endParaRPr lang="en-US" sz="950" dirty="0"/>
          </a:p>
          <a:p>
            <a:pPr indent="0" marL="0">
              <a:lnSpc>
                <a:spcPct val="105000"/>
              </a:lnSpc>
              <a:buNone/>
            </a:pPr>
            <a:r>
              <a:rPr lang="en-US" sz="950" dirty="0">
                <a:solidFill>
                  <a:srgbClr val="CFE8E1"/>
                </a:solidFill>
                <a:latin typeface="Consolas" pitchFamily="34" charset="0"/>
                <a:ea typeface="Consolas" pitchFamily="34" charset="-122"/>
                <a:cs typeface="Consolas" pitchFamily="34" charset="-120"/>
              </a:rPr>
              <a:t>    print(mensaje)</a:t>
            </a:r>
            <a:endParaRPr lang="en-US" sz="950" dirty="0"/>
          </a:p>
          <a:p>
            <a:pPr indent="0" marL="0">
              <a:lnSpc>
                <a:spcPct val="105000"/>
              </a:lnSpc>
              <a:buNone/>
            </a:pPr>
            <a:endParaRPr lang="en-US" sz="950" dirty="0"/>
          </a:p>
          <a:p>
            <a:pPr indent="0" marL="0">
              <a:lnSpc>
                <a:spcPct val="105000"/>
              </a:lnSpc>
              <a:buNone/>
            </a:pPr>
            <a:r>
              <a:rPr lang="en-US" sz="950" dirty="0">
                <a:solidFill>
                  <a:srgbClr val="CFE8E1"/>
                </a:solidFill>
                <a:latin typeface="Consolas" pitchFamily="34" charset="0"/>
                <a:ea typeface="Consolas" pitchFamily="34" charset="-122"/>
                <a:cs typeface="Consolas" pitchFamily="34" charset="-120"/>
              </a:rPr>
              <a:t>saludar()        # 'Hola'</a:t>
            </a:r>
            <a:endParaRPr lang="en-US" sz="950" dirty="0"/>
          </a:p>
          <a:p>
            <a:pPr indent="0" marL="0">
              <a:lnSpc>
                <a:spcPct val="105000"/>
              </a:lnSpc>
              <a:buNone/>
            </a:pPr>
            <a:r>
              <a:rPr lang="en-US" sz="950" dirty="0">
                <a:solidFill>
                  <a:srgbClr val="CFE8E1"/>
                </a:solidFill>
                <a:latin typeface="Consolas" pitchFamily="34" charset="0"/>
                <a:ea typeface="Consolas" pitchFamily="34" charset="-122"/>
                <a:cs typeface="Consolas" pitchFamily="34" charset="-120"/>
              </a:rPr>
              <a:t>print(mensaje)   # NameError:</a:t>
            </a:r>
            <a:endParaRPr lang="en-US" sz="950" dirty="0"/>
          </a:p>
          <a:p>
            <a:pPr indent="0" marL="0">
              <a:lnSpc>
                <a:spcPct val="105000"/>
              </a:lnSpc>
              <a:buNone/>
            </a:pPr>
            <a:r>
              <a:rPr lang="en-US" sz="950" dirty="0">
                <a:solidFill>
                  <a:srgbClr val="CFE8E1"/>
                </a:solidFill>
                <a:latin typeface="Consolas" pitchFamily="34" charset="0"/>
                <a:ea typeface="Consolas" pitchFamily="34" charset="-122"/>
                <a:cs typeface="Consolas" pitchFamily="34" charset="-120"/>
              </a:rPr>
              <a:t>                 # no existe afuera</a:t>
            </a:r>
            <a:endParaRPr lang="en-US" sz="950" dirty="0"/>
          </a:p>
        </p:txBody>
      </p:sp>
      <p:sp>
        <p:nvSpPr>
          <p:cNvPr id="12" name="Text 10"/>
          <p:cNvSpPr/>
          <p:nvPr/>
        </p:nvSpPr>
        <p:spPr>
          <a:xfrm>
            <a:off x="457200" y="4828032"/>
            <a:ext cx="5943600" cy="228600"/>
          </a:xfrm>
          <a:prstGeom prst="rect">
            <a:avLst/>
          </a:prstGeom>
          <a:noFill/>
          <a:ln/>
        </p:spPr>
        <p:txBody>
          <a:bodyPr wrap="square" rtlCol="0" anchor="ctr"/>
          <a:lstStyle/>
          <a:p>
            <a:pPr indent="0" marL="0">
              <a:buNone/>
            </a:pPr>
            <a:r>
              <a:rPr lang="en-US" sz="800" dirty="0">
                <a:solidFill>
                  <a:srgbClr val="6B7B8C"/>
                </a:solidFill>
                <a:latin typeface="Calibri" pitchFamily="34" charset="0"/>
                <a:ea typeface="Calibri" pitchFamily="34" charset="-122"/>
                <a:cs typeface="Calibri" pitchFamily="34" charset="-120"/>
              </a:rPr>
              <a:t>POO en Python · Parte práctica · Semana 2 · MCDI500</a:t>
            </a:r>
            <a:endParaRPr lang="en-US" sz="800" dirty="0"/>
          </a:p>
        </p:txBody>
      </p:sp>
      <p:sp>
        <p:nvSpPr>
          <p:cNvPr id="13" name="Text 11"/>
          <p:cNvSpPr/>
          <p:nvPr/>
        </p:nvSpPr>
        <p:spPr>
          <a:xfrm>
            <a:off x="8321040" y="4828032"/>
            <a:ext cx="365760" cy="228600"/>
          </a:xfrm>
          <a:prstGeom prst="rect">
            <a:avLst/>
          </a:prstGeom>
          <a:noFill/>
          <a:ln/>
        </p:spPr>
        <p:txBody>
          <a:bodyPr wrap="square" rtlCol="0" anchor="ctr"/>
          <a:lstStyle/>
          <a:p>
            <a:pPr algn="r" indent="0" marL="0">
              <a:buNone/>
            </a:pPr>
            <a:r>
              <a:rPr lang="en-US" sz="900" dirty="0">
                <a:solidFill>
                  <a:srgbClr val="6B7B8C"/>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20624"/>
            <a:ext cx="146304" cy="146304"/>
          </a:xfrm>
          <a:prstGeom prst="rect">
            <a:avLst/>
          </a:prstGeom>
          <a:solidFill>
            <a:srgbClr val="13A48A"/>
          </a:solidFill>
          <a:ln/>
        </p:spPr>
      </p:sp>
      <p:sp>
        <p:nvSpPr>
          <p:cNvPr id="3" name="Text 1"/>
          <p:cNvSpPr/>
          <p:nvPr/>
        </p:nvSpPr>
        <p:spPr>
          <a:xfrm>
            <a:off x="676656" y="365760"/>
            <a:ext cx="7955280" cy="274320"/>
          </a:xfrm>
          <a:prstGeom prst="rect">
            <a:avLst/>
          </a:prstGeom>
          <a:noFill/>
          <a:ln/>
        </p:spPr>
        <p:txBody>
          <a:bodyPr wrap="square" lIns="0" tIns="0" rIns="0" bIns="0" rtlCol="0" anchor="ctr"/>
          <a:lstStyle/>
          <a:p>
            <a:pPr indent="0" marL="0">
              <a:buNone/>
            </a:pPr>
            <a:r>
              <a:rPr lang="en-US" sz="1100" b="1" spc="200" kern="0" dirty="0">
                <a:solidFill>
                  <a:srgbClr val="0E7E69"/>
                </a:solidFill>
                <a:latin typeface="Calibri" pitchFamily="34" charset="0"/>
                <a:ea typeface="Calibri" pitchFamily="34" charset="-122"/>
                <a:cs typeface="Calibri" pitchFamily="34" charset="-120"/>
              </a:rPr>
              <a:t>I. FUNDAMENTO</a:t>
            </a:r>
            <a:endParaRPr lang="en-US" sz="1100" dirty="0"/>
          </a:p>
        </p:txBody>
      </p:sp>
      <p:sp>
        <p:nvSpPr>
          <p:cNvPr id="4" name="Text 2"/>
          <p:cNvSpPr/>
          <p:nvPr/>
        </p:nvSpPr>
        <p:spPr>
          <a:xfrm>
            <a:off x="457200" y="658368"/>
            <a:ext cx="8229600" cy="640080"/>
          </a:xfrm>
          <a:prstGeom prst="rect">
            <a:avLst/>
          </a:prstGeom>
          <a:noFill/>
          <a:ln/>
        </p:spPr>
        <p:txBody>
          <a:bodyPr wrap="square" lIns="0" tIns="0" rIns="0" bIns="0" rtlCol="0" anchor="ctr"/>
          <a:lstStyle/>
          <a:p>
            <a:pPr indent="0" marL="0">
              <a:buNone/>
            </a:pPr>
            <a:r>
              <a:rPr lang="en-US" sz="2600" b="1" dirty="0">
                <a:solidFill>
                  <a:srgbClr val="16263A"/>
                </a:solidFill>
                <a:latin typeface="Trebuchet MS" pitchFamily="34" charset="0"/>
                <a:ea typeface="Trebuchet MS" pitchFamily="34" charset="-122"/>
                <a:cs typeface="Trebuchet MS" pitchFamily="34" charset="-120"/>
              </a:rPr>
              <a:t>Namespaces: dónde Python guarda los nombres</a:t>
            </a:r>
            <a:endParaRPr lang="en-US" sz="2600" dirty="0"/>
          </a:p>
        </p:txBody>
      </p:sp>
      <p:sp>
        <p:nvSpPr>
          <p:cNvPr id="5" name="Shape 3"/>
          <p:cNvSpPr/>
          <p:nvPr/>
        </p:nvSpPr>
        <p:spPr>
          <a:xfrm>
            <a:off x="457200" y="1554480"/>
            <a:ext cx="4023360" cy="2834640"/>
          </a:xfrm>
          <a:prstGeom prst="rect">
            <a:avLst/>
          </a:prstGeom>
          <a:solidFill>
            <a:srgbClr val="FFFFFF"/>
          </a:solidFill>
          <a:ln w="12700">
            <a:solidFill>
              <a:srgbClr val="D8E0E6"/>
            </a:solidFill>
            <a:prstDash val="solid"/>
          </a:ln>
          <a:effectLst>
            <a:outerShdw sx="100000" sy="100000" kx="0" ky="0" algn="bl" rotWithShape="0" blurRad="88900" dist="38100" dir="8100000">
              <a:srgbClr val="000000">
                <a:alpha val="13000"/>
              </a:srgbClr>
            </a:outerShdw>
          </a:effectLst>
        </p:spPr>
      </p:sp>
      <p:sp>
        <p:nvSpPr>
          <p:cNvPr id="6" name="Shape 4"/>
          <p:cNvSpPr/>
          <p:nvPr/>
        </p:nvSpPr>
        <p:spPr>
          <a:xfrm>
            <a:off x="457200" y="1554480"/>
            <a:ext cx="64008" cy="2834640"/>
          </a:xfrm>
          <a:prstGeom prst="rect">
            <a:avLst/>
          </a:prstGeom>
          <a:solidFill>
            <a:srgbClr val="E0654A"/>
          </a:solidFill>
          <a:ln/>
        </p:spPr>
      </p:sp>
      <p:sp>
        <p:nvSpPr>
          <p:cNvPr id="7" name="Text 5"/>
          <p:cNvSpPr/>
          <p:nvPr/>
        </p:nvSpPr>
        <p:spPr>
          <a:xfrm>
            <a:off x="713232" y="1783080"/>
            <a:ext cx="3611880" cy="548640"/>
          </a:xfrm>
          <a:prstGeom prst="rect">
            <a:avLst/>
          </a:prstGeom>
          <a:noFill/>
          <a:ln/>
        </p:spPr>
        <p:txBody>
          <a:bodyPr wrap="square" rtlCol="0" anchor="t"/>
          <a:lstStyle/>
          <a:p>
            <a:pPr indent="0" marL="0">
              <a:lnSpc>
                <a:spcPct val="100000"/>
              </a:lnSpc>
              <a:buNone/>
            </a:pPr>
            <a:r>
              <a:rPr lang="en-US" sz="1350" b="1" dirty="0">
                <a:solidFill>
                  <a:srgbClr val="16263A"/>
                </a:solidFill>
                <a:latin typeface="Trebuchet MS" pitchFamily="34" charset="0"/>
                <a:ea typeface="Trebuchet MS" pitchFamily="34" charset="-122"/>
                <a:cs typeface="Trebuchet MS" pitchFamily="34" charset="-120"/>
              </a:rPr>
              <a:t>Un namespace es el espacio que asocia cada nombre con su objeto.</a:t>
            </a:r>
            <a:endParaRPr lang="en-US" sz="1350" dirty="0"/>
          </a:p>
        </p:txBody>
      </p:sp>
      <p:sp>
        <p:nvSpPr>
          <p:cNvPr id="8" name="Text 6"/>
          <p:cNvSpPr/>
          <p:nvPr/>
        </p:nvSpPr>
        <p:spPr>
          <a:xfrm>
            <a:off x="749808" y="2423160"/>
            <a:ext cx="3611880" cy="1828800"/>
          </a:xfrm>
          <a:prstGeom prst="rect">
            <a:avLst/>
          </a:prstGeom>
          <a:noFill/>
          <a:ln/>
        </p:spPr>
        <p:txBody>
          <a:bodyPr wrap="square" rtlCol="0" anchor="t"/>
          <a:lstStyle/>
          <a:p>
            <a:pPr marL="342900" indent="-342900">
              <a:lnSpc>
                <a:spcPct val="103000"/>
              </a:lnSpc>
              <a:spcAft>
                <a:spcPts val="600"/>
              </a:spcAft>
              <a:buSzPct val="100000"/>
              <a:buChar char="•"/>
            </a:pPr>
            <a:r>
              <a:rPr lang="en-US" sz="1150" dirty="0">
                <a:solidFill>
                  <a:srgbClr val="3E5C76"/>
                </a:solidFill>
                <a:latin typeface="Calibri" pitchFamily="34" charset="0"/>
                <a:ea typeface="Calibri" pitchFamily="34" charset="-122"/>
                <a:cs typeface="Calibri" pitchFamily="34" charset="-120"/>
              </a:rPr>
              <a:t>Cada clase y cada objeto tienen su propio namespace.</a:t>
            </a:r>
            <a:endParaRPr lang="en-US" sz="1150" dirty="0"/>
          </a:p>
          <a:p>
            <a:pPr marL="342900" indent="-342900">
              <a:lnSpc>
                <a:spcPct val="103000"/>
              </a:lnSpc>
              <a:spcAft>
                <a:spcPts val="600"/>
              </a:spcAft>
              <a:buSzPct val="100000"/>
              <a:buChar char="•"/>
            </a:pPr>
            <a:r>
              <a:rPr lang="en-US" sz="1150" dirty="0">
                <a:solidFill>
                  <a:srgbClr val="3E5C76"/>
                </a:solidFill>
                <a:latin typeface="Calibri" pitchFamily="34" charset="0"/>
                <a:ea typeface="Calibri" pitchFamily="34" charset="-122"/>
                <a:cs typeface="Calibri" pitchFamily="34" charset="-120"/>
              </a:rPr>
              <a:t>Al pedir p.especie, Python busca primero en el objeto y luego en la clase.</a:t>
            </a:r>
            <a:endParaRPr lang="en-US" sz="1150" dirty="0"/>
          </a:p>
          <a:p>
            <a:pPr marL="342900" indent="-342900">
              <a:lnSpc>
                <a:spcPct val="103000"/>
              </a:lnSpc>
              <a:spcAft>
                <a:spcPts val="600"/>
              </a:spcAft>
              <a:buSzPct val="100000"/>
              <a:buChar char="•"/>
            </a:pPr>
            <a:r>
              <a:rPr lang="en-US" sz="1150" dirty="0">
                <a:solidFill>
                  <a:srgbClr val="3E5C76"/>
                </a:solidFill>
                <a:latin typeface="Calibri" pitchFamily="34" charset="0"/>
                <a:ea typeface="Calibri" pitchFamily="34" charset="-122"/>
                <a:cs typeface="Calibri" pitchFamily="34" charset="-120"/>
              </a:rPr>
              <a:t>Scope = desde dónde; namespace = dónde está guardado.</a:t>
            </a:r>
            <a:endParaRPr lang="en-US" sz="1150" dirty="0"/>
          </a:p>
        </p:txBody>
      </p:sp>
      <p:sp>
        <p:nvSpPr>
          <p:cNvPr id="9" name="Shape 7"/>
          <p:cNvSpPr/>
          <p:nvPr/>
        </p:nvSpPr>
        <p:spPr>
          <a:xfrm>
            <a:off x="4800600" y="1554480"/>
            <a:ext cx="3886200" cy="2834640"/>
          </a:xfrm>
          <a:prstGeom prst="rect">
            <a:avLst/>
          </a:prstGeom>
          <a:solidFill>
            <a:srgbClr val="0F2233"/>
          </a:solidFill>
          <a:ln/>
          <a:effectLst>
            <a:outerShdw sx="100000" sy="100000" kx="0" ky="0" algn="bl" rotWithShape="0" blurRad="88900" dist="38100" dir="8100000">
              <a:srgbClr val="000000">
                <a:alpha val="13000"/>
              </a:srgbClr>
            </a:outerShdw>
          </a:effectLst>
        </p:spPr>
      </p:sp>
      <p:sp>
        <p:nvSpPr>
          <p:cNvPr id="10" name="Shape 8"/>
          <p:cNvSpPr/>
          <p:nvPr/>
        </p:nvSpPr>
        <p:spPr>
          <a:xfrm>
            <a:off x="4800600" y="1554480"/>
            <a:ext cx="64008" cy="2834640"/>
          </a:xfrm>
          <a:prstGeom prst="rect">
            <a:avLst/>
          </a:prstGeom>
          <a:solidFill>
            <a:srgbClr val="13A48A"/>
          </a:solidFill>
          <a:ln/>
        </p:spPr>
      </p:sp>
      <p:sp>
        <p:nvSpPr>
          <p:cNvPr id="11" name="Text 9"/>
          <p:cNvSpPr/>
          <p:nvPr/>
        </p:nvSpPr>
        <p:spPr>
          <a:xfrm>
            <a:off x="4983480" y="1664208"/>
            <a:ext cx="3566160" cy="2615184"/>
          </a:xfrm>
          <a:prstGeom prst="rect">
            <a:avLst/>
          </a:prstGeom>
          <a:noFill/>
          <a:ln/>
        </p:spPr>
        <p:txBody>
          <a:bodyPr wrap="square" lIns="0" tIns="0" rIns="0" bIns="0" rtlCol="0" anchor="t"/>
          <a:lstStyle/>
          <a:p>
            <a:pPr indent="0" marL="0">
              <a:lnSpc>
                <a:spcPct val="105000"/>
              </a:lnSpc>
              <a:buNone/>
            </a:pPr>
            <a:r>
              <a:rPr lang="en-US" sz="950" dirty="0">
                <a:solidFill>
                  <a:srgbClr val="CFE8E1"/>
                </a:solidFill>
                <a:latin typeface="Consolas" pitchFamily="34" charset="0"/>
                <a:ea typeface="Consolas" pitchFamily="34" charset="-122"/>
                <a:cs typeface="Consolas" pitchFamily="34" charset="-120"/>
              </a:rPr>
              <a:t>class Persona:</a:t>
            </a:r>
            <a:endParaRPr lang="en-US" sz="950" dirty="0"/>
          </a:p>
          <a:p>
            <a:pPr indent="0" marL="0">
              <a:lnSpc>
                <a:spcPct val="105000"/>
              </a:lnSpc>
              <a:buNone/>
            </a:pPr>
            <a:r>
              <a:rPr lang="en-US" sz="950" dirty="0">
                <a:solidFill>
                  <a:srgbClr val="CFE8E1"/>
                </a:solidFill>
                <a:latin typeface="Consolas" pitchFamily="34" charset="0"/>
                <a:ea typeface="Consolas" pitchFamily="34" charset="-122"/>
                <a:cs typeface="Consolas" pitchFamily="34" charset="-120"/>
              </a:rPr>
              <a:t>    especie = 'Humano'  # ns de clase</a:t>
            </a:r>
            <a:endParaRPr lang="en-US" sz="950" dirty="0"/>
          </a:p>
          <a:p>
            <a:pPr indent="0" marL="0">
              <a:lnSpc>
                <a:spcPct val="105000"/>
              </a:lnSpc>
              <a:buNone/>
            </a:pPr>
            <a:endParaRPr lang="en-US" sz="950" dirty="0"/>
          </a:p>
          <a:p>
            <a:pPr indent="0" marL="0">
              <a:lnSpc>
                <a:spcPct val="105000"/>
              </a:lnSpc>
              <a:buNone/>
            </a:pPr>
            <a:r>
              <a:rPr lang="en-US" sz="950" dirty="0">
                <a:solidFill>
                  <a:srgbClr val="CFE8E1"/>
                </a:solidFill>
                <a:latin typeface="Consolas" pitchFamily="34" charset="0"/>
                <a:ea typeface="Consolas" pitchFamily="34" charset="-122"/>
                <a:cs typeface="Consolas" pitchFamily="34" charset="-120"/>
              </a:rPr>
              <a:t>p = Persona()</a:t>
            </a:r>
            <a:endParaRPr lang="en-US" sz="950" dirty="0"/>
          </a:p>
          <a:p>
            <a:pPr indent="0" marL="0">
              <a:lnSpc>
                <a:spcPct val="105000"/>
              </a:lnSpc>
              <a:buNone/>
            </a:pPr>
            <a:r>
              <a:rPr lang="en-US" sz="950" dirty="0">
                <a:solidFill>
                  <a:srgbClr val="CFE8E1"/>
                </a:solidFill>
                <a:latin typeface="Consolas" pitchFamily="34" charset="0"/>
                <a:ea typeface="Consolas" pitchFamily="34" charset="-122"/>
                <a:cs typeface="Consolas" pitchFamily="34" charset="-120"/>
              </a:rPr>
              <a:t>p.nombre = 'Ana'        # ns del objeto</a:t>
            </a:r>
            <a:endParaRPr lang="en-US" sz="950" dirty="0"/>
          </a:p>
          <a:p>
            <a:pPr indent="0" marL="0">
              <a:lnSpc>
                <a:spcPct val="105000"/>
              </a:lnSpc>
              <a:buNone/>
            </a:pPr>
            <a:endParaRPr lang="en-US" sz="950" dirty="0"/>
          </a:p>
          <a:p>
            <a:pPr indent="0" marL="0">
              <a:lnSpc>
                <a:spcPct val="105000"/>
              </a:lnSpc>
              <a:buNone/>
            </a:pPr>
            <a:r>
              <a:rPr lang="en-US" sz="950" dirty="0">
                <a:solidFill>
                  <a:srgbClr val="CFE8E1"/>
                </a:solidFill>
                <a:latin typeface="Consolas" pitchFamily="34" charset="0"/>
                <a:ea typeface="Consolas" pitchFamily="34" charset="-122"/>
                <a:cs typeface="Consolas" pitchFamily="34" charset="-120"/>
              </a:rPr>
              <a:t>p.especie   # no esta en p -&gt;</a:t>
            </a:r>
            <a:endParaRPr lang="en-US" sz="950" dirty="0"/>
          </a:p>
          <a:p>
            <a:pPr indent="0" marL="0">
              <a:lnSpc>
                <a:spcPct val="105000"/>
              </a:lnSpc>
              <a:buNone/>
            </a:pPr>
            <a:r>
              <a:rPr lang="en-US" sz="950" dirty="0">
                <a:solidFill>
                  <a:srgbClr val="CFE8E1"/>
                </a:solidFill>
                <a:latin typeface="Consolas" pitchFamily="34" charset="0"/>
                <a:ea typeface="Consolas" pitchFamily="34" charset="-122"/>
                <a:cs typeface="Consolas" pitchFamily="34" charset="-120"/>
              </a:rPr>
              <a:t>            # lo busca en la clase</a:t>
            </a:r>
            <a:endParaRPr lang="en-US" sz="950" dirty="0"/>
          </a:p>
        </p:txBody>
      </p:sp>
      <p:sp>
        <p:nvSpPr>
          <p:cNvPr id="12" name="Text 10"/>
          <p:cNvSpPr/>
          <p:nvPr/>
        </p:nvSpPr>
        <p:spPr>
          <a:xfrm>
            <a:off x="457200" y="4828032"/>
            <a:ext cx="5943600" cy="228600"/>
          </a:xfrm>
          <a:prstGeom prst="rect">
            <a:avLst/>
          </a:prstGeom>
          <a:noFill/>
          <a:ln/>
        </p:spPr>
        <p:txBody>
          <a:bodyPr wrap="square" rtlCol="0" anchor="ctr"/>
          <a:lstStyle/>
          <a:p>
            <a:pPr indent="0" marL="0">
              <a:buNone/>
            </a:pPr>
            <a:r>
              <a:rPr lang="en-US" sz="800" dirty="0">
                <a:solidFill>
                  <a:srgbClr val="6B7B8C"/>
                </a:solidFill>
                <a:latin typeface="Calibri" pitchFamily="34" charset="0"/>
                <a:ea typeface="Calibri" pitchFamily="34" charset="-122"/>
                <a:cs typeface="Calibri" pitchFamily="34" charset="-120"/>
              </a:rPr>
              <a:t>POO en Python · Parte práctica · Semana 2 · MCDI500</a:t>
            </a:r>
            <a:endParaRPr lang="en-US" sz="800" dirty="0"/>
          </a:p>
        </p:txBody>
      </p:sp>
      <p:sp>
        <p:nvSpPr>
          <p:cNvPr id="13" name="Text 11"/>
          <p:cNvSpPr/>
          <p:nvPr/>
        </p:nvSpPr>
        <p:spPr>
          <a:xfrm>
            <a:off x="8321040" y="4828032"/>
            <a:ext cx="365760" cy="228600"/>
          </a:xfrm>
          <a:prstGeom prst="rect">
            <a:avLst/>
          </a:prstGeom>
          <a:noFill/>
          <a:ln/>
        </p:spPr>
        <p:txBody>
          <a:bodyPr wrap="square" rtlCol="0" anchor="ctr"/>
          <a:lstStyle/>
          <a:p>
            <a:pPr algn="r" indent="0" marL="0">
              <a:buNone/>
            </a:pPr>
            <a:r>
              <a:rPr lang="en-US" sz="900" dirty="0">
                <a:solidFill>
                  <a:srgbClr val="6B7B8C"/>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20624"/>
            <a:ext cx="146304" cy="146304"/>
          </a:xfrm>
          <a:prstGeom prst="rect">
            <a:avLst/>
          </a:prstGeom>
          <a:solidFill>
            <a:srgbClr val="13A48A"/>
          </a:solidFill>
          <a:ln/>
        </p:spPr>
      </p:sp>
      <p:sp>
        <p:nvSpPr>
          <p:cNvPr id="3" name="Text 1"/>
          <p:cNvSpPr/>
          <p:nvPr/>
        </p:nvSpPr>
        <p:spPr>
          <a:xfrm>
            <a:off x="676656" y="365760"/>
            <a:ext cx="7955280" cy="274320"/>
          </a:xfrm>
          <a:prstGeom prst="rect">
            <a:avLst/>
          </a:prstGeom>
          <a:noFill/>
          <a:ln/>
        </p:spPr>
        <p:txBody>
          <a:bodyPr wrap="square" lIns="0" tIns="0" rIns="0" bIns="0" rtlCol="0" anchor="ctr"/>
          <a:lstStyle/>
          <a:p>
            <a:pPr indent="0" marL="0">
              <a:buNone/>
            </a:pPr>
            <a:r>
              <a:rPr lang="en-US" sz="1100" b="1" spc="200" kern="0" dirty="0">
                <a:solidFill>
                  <a:srgbClr val="0E7E69"/>
                </a:solidFill>
                <a:latin typeface="Calibri" pitchFamily="34" charset="0"/>
                <a:ea typeface="Calibri" pitchFamily="34" charset="-122"/>
                <a:cs typeface="Calibri" pitchFamily="34" charset="-120"/>
              </a:rPr>
              <a:t>II. POO</a:t>
            </a:r>
            <a:endParaRPr lang="en-US" sz="1100" dirty="0"/>
          </a:p>
        </p:txBody>
      </p:sp>
      <p:sp>
        <p:nvSpPr>
          <p:cNvPr id="4" name="Text 2"/>
          <p:cNvSpPr/>
          <p:nvPr/>
        </p:nvSpPr>
        <p:spPr>
          <a:xfrm>
            <a:off x="457200" y="658368"/>
            <a:ext cx="8229600" cy="640080"/>
          </a:xfrm>
          <a:prstGeom prst="rect">
            <a:avLst/>
          </a:prstGeom>
          <a:noFill/>
          <a:ln/>
        </p:spPr>
        <p:txBody>
          <a:bodyPr wrap="square" lIns="0" tIns="0" rIns="0" bIns="0" rtlCol="0" anchor="ctr"/>
          <a:lstStyle/>
          <a:p>
            <a:pPr indent="0" marL="0">
              <a:buNone/>
            </a:pPr>
            <a:r>
              <a:rPr lang="en-US" sz="2600" b="1" dirty="0">
                <a:solidFill>
                  <a:srgbClr val="16263A"/>
                </a:solidFill>
                <a:latin typeface="Trebuchet MS" pitchFamily="34" charset="0"/>
                <a:ea typeface="Trebuchet MS" pitchFamily="34" charset="-122"/>
                <a:cs typeface="Trebuchet MS" pitchFamily="34" charset="-120"/>
              </a:rPr>
              <a:t>¿Qué es la programación orientada a objetos?</a:t>
            </a:r>
            <a:endParaRPr lang="en-US" sz="2600" dirty="0"/>
          </a:p>
        </p:txBody>
      </p:sp>
      <p:sp>
        <p:nvSpPr>
          <p:cNvPr id="5" name="Text 3"/>
          <p:cNvSpPr/>
          <p:nvPr/>
        </p:nvSpPr>
        <p:spPr>
          <a:xfrm>
            <a:off x="457200" y="1463040"/>
            <a:ext cx="8229600" cy="731520"/>
          </a:xfrm>
          <a:prstGeom prst="rect">
            <a:avLst/>
          </a:prstGeom>
          <a:noFill/>
          <a:ln/>
        </p:spPr>
        <p:txBody>
          <a:bodyPr wrap="square" rtlCol="0" anchor="ctr"/>
          <a:lstStyle/>
          <a:p>
            <a:pPr indent="0" marL="0">
              <a:lnSpc>
                <a:spcPct val="106000"/>
              </a:lnSpc>
              <a:buNone/>
            </a:pPr>
            <a:r>
              <a:rPr lang="en-US" sz="1450" dirty="0">
                <a:solidFill>
                  <a:srgbClr val="3E5C76"/>
                </a:solidFill>
                <a:latin typeface="Calibri" pitchFamily="34" charset="0"/>
                <a:ea typeface="Calibri" pitchFamily="34" charset="-122"/>
                <a:cs typeface="Calibri" pitchFamily="34" charset="-120"/>
              </a:rPr>
              <a:t>Es un paradigma que modela la solución mediante objetos: unidades que integran datos (atributos) y comportamientos (métodos) en una misma estructura lógica.</a:t>
            </a:r>
            <a:endParaRPr lang="en-US" sz="1450" dirty="0"/>
          </a:p>
        </p:txBody>
      </p:sp>
      <p:sp>
        <p:nvSpPr>
          <p:cNvPr id="6" name="Shape 4"/>
          <p:cNvSpPr/>
          <p:nvPr/>
        </p:nvSpPr>
        <p:spPr>
          <a:xfrm>
            <a:off x="457200" y="2468880"/>
            <a:ext cx="2743200" cy="1828800"/>
          </a:xfrm>
          <a:prstGeom prst="rect">
            <a:avLst/>
          </a:prstGeom>
          <a:solidFill>
            <a:srgbClr val="FFFFFF"/>
          </a:solidFill>
          <a:ln w="12700">
            <a:solidFill>
              <a:srgbClr val="D8E0E6"/>
            </a:solidFill>
            <a:prstDash val="solid"/>
          </a:ln>
          <a:effectLst>
            <a:outerShdw sx="100000" sy="100000" kx="0" ky="0" algn="bl" rotWithShape="0" blurRad="88900" dist="38100" dir="8100000">
              <a:srgbClr val="000000">
                <a:alpha val="13000"/>
              </a:srgbClr>
            </a:outerShdw>
          </a:effectLst>
        </p:spPr>
      </p:sp>
      <p:sp>
        <p:nvSpPr>
          <p:cNvPr id="7" name="Shape 5"/>
          <p:cNvSpPr/>
          <p:nvPr/>
        </p:nvSpPr>
        <p:spPr>
          <a:xfrm>
            <a:off x="457200" y="2468880"/>
            <a:ext cx="64008" cy="1828800"/>
          </a:xfrm>
          <a:prstGeom prst="rect">
            <a:avLst/>
          </a:prstGeom>
          <a:solidFill>
            <a:srgbClr val="13A48A"/>
          </a:solidFill>
          <a:ln/>
        </p:spPr>
      </p:sp>
      <p:sp>
        <p:nvSpPr>
          <p:cNvPr id="8" name="Shape 6"/>
          <p:cNvSpPr/>
          <p:nvPr/>
        </p:nvSpPr>
        <p:spPr>
          <a:xfrm>
            <a:off x="694944" y="2724912"/>
            <a:ext cx="548640" cy="548640"/>
          </a:xfrm>
          <a:prstGeom prst="ellipse">
            <a:avLst/>
          </a:prstGeom>
          <a:solidFill>
            <a:srgbClr val="EEF3F6"/>
          </a:solidFill>
          <a:ln/>
        </p:spPr>
      </p:sp>
      <p:pic>
        <p:nvPicPr>
          <p:cNvPr id="9" name="Image 0" descr="preencoded.png">    </p:cNvPr>
          <p:cNvPicPr>
            <a:picLocks noChangeAspect="1"/>
          </p:cNvPicPr>
          <p:nvPr/>
        </p:nvPicPr>
        <p:blipFill>
          <a:blip r:embed="rId1"/>
          <a:stretch>
            <a:fillRect/>
          </a:stretch>
        </p:blipFill>
        <p:spPr>
          <a:xfrm>
            <a:off x="815645" y="2845613"/>
            <a:ext cx="307238" cy="307238"/>
          </a:xfrm>
          <a:prstGeom prst="rect">
            <a:avLst/>
          </a:prstGeom>
        </p:spPr>
      </p:pic>
      <p:sp>
        <p:nvSpPr>
          <p:cNvPr id="10" name="Text 7"/>
          <p:cNvSpPr/>
          <p:nvPr/>
        </p:nvSpPr>
        <p:spPr>
          <a:xfrm>
            <a:off x="658368" y="3383280"/>
            <a:ext cx="2377440" cy="411480"/>
          </a:xfrm>
          <a:prstGeom prst="rect">
            <a:avLst/>
          </a:prstGeom>
          <a:noFill/>
          <a:ln/>
        </p:spPr>
        <p:txBody>
          <a:bodyPr wrap="square" rtlCol="0" anchor="t"/>
          <a:lstStyle/>
          <a:p>
            <a:pPr indent="0" marL="0">
              <a:buNone/>
            </a:pPr>
            <a:r>
              <a:rPr lang="en-US" sz="1500" b="1" dirty="0">
                <a:solidFill>
                  <a:srgbClr val="16263A"/>
                </a:solidFill>
                <a:latin typeface="Trebuchet MS" pitchFamily="34" charset="0"/>
                <a:ea typeface="Trebuchet MS" pitchFamily="34" charset="-122"/>
                <a:cs typeface="Trebuchet MS" pitchFamily="34" charset="-120"/>
              </a:rPr>
              <a:t>Más modular</a:t>
            </a:r>
            <a:endParaRPr lang="en-US" sz="1500" dirty="0"/>
          </a:p>
        </p:txBody>
      </p:sp>
      <p:sp>
        <p:nvSpPr>
          <p:cNvPr id="11" name="Text 8"/>
          <p:cNvSpPr/>
          <p:nvPr/>
        </p:nvSpPr>
        <p:spPr>
          <a:xfrm>
            <a:off x="658368" y="3794760"/>
            <a:ext cx="2359152" cy="457200"/>
          </a:xfrm>
          <a:prstGeom prst="rect">
            <a:avLst/>
          </a:prstGeom>
          <a:noFill/>
          <a:ln/>
        </p:spPr>
        <p:txBody>
          <a:bodyPr wrap="square" rtlCol="0" anchor="t"/>
          <a:lstStyle/>
          <a:p>
            <a:pPr indent="0" marL="0">
              <a:lnSpc>
                <a:spcPct val="102000"/>
              </a:lnSpc>
              <a:buNone/>
            </a:pPr>
            <a:r>
              <a:rPr lang="en-US" sz="1150" dirty="0">
                <a:solidFill>
                  <a:srgbClr val="3E5C76"/>
                </a:solidFill>
                <a:latin typeface="Calibri" pitchFamily="34" charset="0"/>
                <a:ea typeface="Calibri" pitchFamily="34" charset="-122"/>
                <a:cs typeface="Calibri" pitchFamily="34" charset="-120"/>
              </a:rPr>
              <a:t>Agrupa propiedades y funciones afines.</a:t>
            </a:r>
            <a:endParaRPr lang="en-US" sz="1150" dirty="0"/>
          </a:p>
        </p:txBody>
      </p:sp>
      <p:sp>
        <p:nvSpPr>
          <p:cNvPr id="12" name="Shape 9"/>
          <p:cNvSpPr/>
          <p:nvPr/>
        </p:nvSpPr>
        <p:spPr>
          <a:xfrm>
            <a:off x="3383280" y="2468880"/>
            <a:ext cx="2743200" cy="1828800"/>
          </a:xfrm>
          <a:prstGeom prst="rect">
            <a:avLst/>
          </a:prstGeom>
          <a:solidFill>
            <a:srgbClr val="FFFFFF"/>
          </a:solidFill>
          <a:ln w="12700">
            <a:solidFill>
              <a:srgbClr val="D8E0E6"/>
            </a:solidFill>
            <a:prstDash val="solid"/>
          </a:ln>
          <a:effectLst>
            <a:outerShdw sx="100000" sy="100000" kx="0" ky="0" algn="bl" rotWithShape="0" blurRad="88900" dist="38100" dir="8100000">
              <a:srgbClr val="000000">
                <a:alpha val="13000"/>
              </a:srgbClr>
            </a:outerShdw>
          </a:effectLst>
        </p:spPr>
      </p:sp>
      <p:sp>
        <p:nvSpPr>
          <p:cNvPr id="13" name="Shape 10"/>
          <p:cNvSpPr/>
          <p:nvPr/>
        </p:nvSpPr>
        <p:spPr>
          <a:xfrm>
            <a:off x="3383280" y="2468880"/>
            <a:ext cx="64008" cy="1828800"/>
          </a:xfrm>
          <a:prstGeom prst="rect">
            <a:avLst/>
          </a:prstGeom>
          <a:solidFill>
            <a:srgbClr val="13A48A"/>
          </a:solidFill>
          <a:ln/>
        </p:spPr>
      </p:sp>
      <p:sp>
        <p:nvSpPr>
          <p:cNvPr id="14" name="Shape 11"/>
          <p:cNvSpPr/>
          <p:nvPr/>
        </p:nvSpPr>
        <p:spPr>
          <a:xfrm>
            <a:off x="3621024" y="2724912"/>
            <a:ext cx="548640" cy="548640"/>
          </a:xfrm>
          <a:prstGeom prst="ellipse">
            <a:avLst/>
          </a:prstGeom>
          <a:solidFill>
            <a:srgbClr val="EEF3F6"/>
          </a:solidFill>
          <a:ln/>
        </p:spPr>
      </p:sp>
      <p:pic>
        <p:nvPicPr>
          <p:cNvPr id="15" name="Image 1" descr="preencoded.png">    </p:cNvPr>
          <p:cNvPicPr>
            <a:picLocks noChangeAspect="1"/>
          </p:cNvPicPr>
          <p:nvPr/>
        </p:nvPicPr>
        <p:blipFill>
          <a:blip r:embed="rId2"/>
          <a:stretch>
            <a:fillRect/>
          </a:stretch>
        </p:blipFill>
        <p:spPr>
          <a:xfrm>
            <a:off x="3741725" y="2845613"/>
            <a:ext cx="307238" cy="307238"/>
          </a:xfrm>
          <a:prstGeom prst="rect">
            <a:avLst/>
          </a:prstGeom>
        </p:spPr>
      </p:pic>
      <p:sp>
        <p:nvSpPr>
          <p:cNvPr id="16" name="Text 12"/>
          <p:cNvSpPr/>
          <p:nvPr/>
        </p:nvSpPr>
        <p:spPr>
          <a:xfrm>
            <a:off x="3584448" y="3383280"/>
            <a:ext cx="2377440" cy="411480"/>
          </a:xfrm>
          <a:prstGeom prst="rect">
            <a:avLst/>
          </a:prstGeom>
          <a:noFill/>
          <a:ln/>
        </p:spPr>
        <p:txBody>
          <a:bodyPr wrap="square" rtlCol="0" anchor="t"/>
          <a:lstStyle/>
          <a:p>
            <a:pPr indent="0" marL="0">
              <a:buNone/>
            </a:pPr>
            <a:r>
              <a:rPr lang="en-US" sz="1500" b="1" dirty="0">
                <a:solidFill>
                  <a:srgbClr val="16263A"/>
                </a:solidFill>
                <a:latin typeface="Trebuchet MS" pitchFamily="34" charset="0"/>
                <a:ea typeface="Trebuchet MS" pitchFamily="34" charset="-122"/>
                <a:cs typeface="Trebuchet MS" pitchFamily="34" charset="-120"/>
              </a:rPr>
              <a:t>Más reutilizable</a:t>
            </a:r>
            <a:endParaRPr lang="en-US" sz="1500" dirty="0"/>
          </a:p>
        </p:txBody>
      </p:sp>
      <p:sp>
        <p:nvSpPr>
          <p:cNvPr id="17" name="Text 13"/>
          <p:cNvSpPr/>
          <p:nvPr/>
        </p:nvSpPr>
        <p:spPr>
          <a:xfrm>
            <a:off x="3584448" y="3794760"/>
            <a:ext cx="2359152" cy="457200"/>
          </a:xfrm>
          <a:prstGeom prst="rect">
            <a:avLst/>
          </a:prstGeom>
          <a:noFill/>
          <a:ln/>
        </p:spPr>
        <p:txBody>
          <a:bodyPr wrap="square" rtlCol="0" anchor="t"/>
          <a:lstStyle/>
          <a:p>
            <a:pPr indent="0" marL="0">
              <a:lnSpc>
                <a:spcPct val="102000"/>
              </a:lnSpc>
              <a:buNone/>
            </a:pPr>
            <a:r>
              <a:rPr lang="en-US" sz="1150" dirty="0">
                <a:solidFill>
                  <a:srgbClr val="3E5C76"/>
                </a:solidFill>
                <a:latin typeface="Calibri" pitchFamily="34" charset="0"/>
                <a:ea typeface="Calibri" pitchFamily="34" charset="-122"/>
                <a:cs typeface="Calibri" pitchFamily="34" charset="-120"/>
              </a:rPr>
              <a:t>Evita duplicar lógica común.</a:t>
            </a:r>
            <a:endParaRPr lang="en-US" sz="1150" dirty="0"/>
          </a:p>
        </p:txBody>
      </p:sp>
      <p:sp>
        <p:nvSpPr>
          <p:cNvPr id="18" name="Shape 14"/>
          <p:cNvSpPr/>
          <p:nvPr/>
        </p:nvSpPr>
        <p:spPr>
          <a:xfrm>
            <a:off x="6309360" y="2468880"/>
            <a:ext cx="2743200" cy="1828800"/>
          </a:xfrm>
          <a:prstGeom prst="rect">
            <a:avLst/>
          </a:prstGeom>
          <a:solidFill>
            <a:srgbClr val="FFFFFF"/>
          </a:solidFill>
          <a:ln w="12700">
            <a:solidFill>
              <a:srgbClr val="D8E0E6"/>
            </a:solidFill>
            <a:prstDash val="solid"/>
          </a:ln>
          <a:effectLst>
            <a:outerShdw sx="100000" sy="100000" kx="0" ky="0" algn="bl" rotWithShape="0" blurRad="88900" dist="38100" dir="8100000">
              <a:srgbClr val="000000">
                <a:alpha val="13000"/>
              </a:srgbClr>
            </a:outerShdw>
          </a:effectLst>
        </p:spPr>
      </p:sp>
      <p:sp>
        <p:nvSpPr>
          <p:cNvPr id="19" name="Shape 15"/>
          <p:cNvSpPr/>
          <p:nvPr/>
        </p:nvSpPr>
        <p:spPr>
          <a:xfrm>
            <a:off x="6309360" y="2468880"/>
            <a:ext cx="64008" cy="1828800"/>
          </a:xfrm>
          <a:prstGeom prst="rect">
            <a:avLst/>
          </a:prstGeom>
          <a:solidFill>
            <a:srgbClr val="13A48A"/>
          </a:solidFill>
          <a:ln/>
        </p:spPr>
      </p:sp>
      <p:sp>
        <p:nvSpPr>
          <p:cNvPr id="20" name="Shape 16"/>
          <p:cNvSpPr/>
          <p:nvPr/>
        </p:nvSpPr>
        <p:spPr>
          <a:xfrm>
            <a:off x="6547104" y="2724912"/>
            <a:ext cx="548640" cy="548640"/>
          </a:xfrm>
          <a:prstGeom prst="ellipse">
            <a:avLst/>
          </a:prstGeom>
          <a:solidFill>
            <a:srgbClr val="EEF3F6"/>
          </a:solidFill>
          <a:ln/>
        </p:spPr>
      </p:sp>
      <p:pic>
        <p:nvPicPr>
          <p:cNvPr id="21" name="Image 2" descr="preencoded.png">    </p:cNvPr>
          <p:cNvPicPr>
            <a:picLocks noChangeAspect="1"/>
          </p:cNvPicPr>
          <p:nvPr/>
        </p:nvPicPr>
        <p:blipFill>
          <a:blip r:embed="rId3"/>
          <a:stretch>
            <a:fillRect/>
          </a:stretch>
        </p:blipFill>
        <p:spPr>
          <a:xfrm>
            <a:off x="6667805" y="2845613"/>
            <a:ext cx="307238" cy="307238"/>
          </a:xfrm>
          <a:prstGeom prst="rect">
            <a:avLst/>
          </a:prstGeom>
        </p:spPr>
      </p:pic>
      <p:sp>
        <p:nvSpPr>
          <p:cNvPr id="22" name="Text 17"/>
          <p:cNvSpPr/>
          <p:nvPr/>
        </p:nvSpPr>
        <p:spPr>
          <a:xfrm>
            <a:off x="6510528" y="3383280"/>
            <a:ext cx="2377440" cy="411480"/>
          </a:xfrm>
          <a:prstGeom prst="rect">
            <a:avLst/>
          </a:prstGeom>
          <a:noFill/>
          <a:ln/>
        </p:spPr>
        <p:txBody>
          <a:bodyPr wrap="square" rtlCol="0" anchor="t"/>
          <a:lstStyle/>
          <a:p>
            <a:pPr indent="0" marL="0">
              <a:buNone/>
            </a:pPr>
            <a:r>
              <a:rPr lang="en-US" sz="1500" b="1" dirty="0">
                <a:solidFill>
                  <a:srgbClr val="16263A"/>
                </a:solidFill>
                <a:latin typeface="Trebuchet MS" pitchFamily="34" charset="0"/>
                <a:ea typeface="Trebuchet MS" pitchFamily="34" charset="-122"/>
                <a:cs typeface="Trebuchet MS" pitchFamily="34" charset="-120"/>
              </a:rPr>
              <a:t>Más comprensible</a:t>
            </a:r>
            <a:endParaRPr lang="en-US" sz="1500" dirty="0"/>
          </a:p>
        </p:txBody>
      </p:sp>
      <p:sp>
        <p:nvSpPr>
          <p:cNvPr id="23" name="Text 18"/>
          <p:cNvSpPr/>
          <p:nvPr/>
        </p:nvSpPr>
        <p:spPr>
          <a:xfrm>
            <a:off x="6510528" y="3794760"/>
            <a:ext cx="2359152" cy="457200"/>
          </a:xfrm>
          <a:prstGeom prst="rect">
            <a:avLst/>
          </a:prstGeom>
          <a:noFill/>
          <a:ln/>
        </p:spPr>
        <p:txBody>
          <a:bodyPr wrap="square" rtlCol="0" anchor="t"/>
          <a:lstStyle/>
          <a:p>
            <a:pPr indent="0" marL="0">
              <a:lnSpc>
                <a:spcPct val="102000"/>
              </a:lnSpc>
              <a:buNone/>
            </a:pPr>
            <a:r>
              <a:rPr lang="en-US" sz="1150" dirty="0">
                <a:solidFill>
                  <a:srgbClr val="3E5C76"/>
                </a:solidFill>
                <a:latin typeface="Calibri" pitchFamily="34" charset="0"/>
                <a:ea typeface="Calibri" pitchFamily="34" charset="-122"/>
                <a:cs typeface="Calibri" pitchFamily="34" charset="-120"/>
              </a:rPr>
              <a:t>Refleja el problema con abstracciones claras.</a:t>
            </a:r>
            <a:endParaRPr lang="en-US" sz="1150" dirty="0"/>
          </a:p>
        </p:txBody>
      </p:sp>
      <p:sp>
        <p:nvSpPr>
          <p:cNvPr id="24" name="Text 19"/>
          <p:cNvSpPr/>
          <p:nvPr/>
        </p:nvSpPr>
        <p:spPr>
          <a:xfrm>
            <a:off x="457200" y="4828032"/>
            <a:ext cx="5943600" cy="228600"/>
          </a:xfrm>
          <a:prstGeom prst="rect">
            <a:avLst/>
          </a:prstGeom>
          <a:noFill/>
          <a:ln/>
        </p:spPr>
        <p:txBody>
          <a:bodyPr wrap="square" rtlCol="0" anchor="ctr"/>
          <a:lstStyle/>
          <a:p>
            <a:pPr indent="0" marL="0">
              <a:buNone/>
            </a:pPr>
            <a:r>
              <a:rPr lang="en-US" sz="800" dirty="0">
                <a:solidFill>
                  <a:srgbClr val="6B7B8C"/>
                </a:solidFill>
                <a:latin typeface="Calibri" pitchFamily="34" charset="0"/>
                <a:ea typeface="Calibri" pitchFamily="34" charset="-122"/>
                <a:cs typeface="Calibri" pitchFamily="34" charset="-120"/>
              </a:rPr>
              <a:t>POO en Python · Parte práctica · Semana 2 · MCDI500</a:t>
            </a:r>
            <a:endParaRPr lang="en-US" sz="800" dirty="0"/>
          </a:p>
        </p:txBody>
      </p:sp>
      <p:sp>
        <p:nvSpPr>
          <p:cNvPr id="25" name="Text 20"/>
          <p:cNvSpPr/>
          <p:nvPr/>
        </p:nvSpPr>
        <p:spPr>
          <a:xfrm>
            <a:off x="8321040" y="4828032"/>
            <a:ext cx="365760" cy="228600"/>
          </a:xfrm>
          <a:prstGeom prst="rect">
            <a:avLst/>
          </a:prstGeom>
          <a:noFill/>
          <a:ln/>
        </p:spPr>
        <p:txBody>
          <a:bodyPr wrap="square" rtlCol="0" anchor="ctr"/>
          <a:lstStyle/>
          <a:p>
            <a:pPr algn="r" indent="0" marL="0">
              <a:buNone/>
            </a:pPr>
            <a:r>
              <a:rPr lang="en-US" sz="900" dirty="0">
                <a:solidFill>
                  <a:srgbClr val="6B7B8C"/>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20624"/>
            <a:ext cx="146304" cy="146304"/>
          </a:xfrm>
          <a:prstGeom prst="rect">
            <a:avLst/>
          </a:prstGeom>
          <a:solidFill>
            <a:srgbClr val="13A48A"/>
          </a:solidFill>
          <a:ln/>
        </p:spPr>
      </p:sp>
      <p:sp>
        <p:nvSpPr>
          <p:cNvPr id="3" name="Text 1"/>
          <p:cNvSpPr/>
          <p:nvPr/>
        </p:nvSpPr>
        <p:spPr>
          <a:xfrm>
            <a:off x="676656" y="365760"/>
            <a:ext cx="7955280" cy="274320"/>
          </a:xfrm>
          <a:prstGeom prst="rect">
            <a:avLst/>
          </a:prstGeom>
          <a:noFill/>
          <a:ln/>
        </p:spPr>
        <p:txBody>
          <a:bodyPr wrap="square" lIns="0" tIns="0" rIns="0" bIns="0" rtlCol="0" anchor="ctr"/>
          <a:lstStyle/>
          <a:p>
            <a:pPr indent="0" marL="0">
              <a:buNone/>
            </a:pPr>
            <a:r>
              <a:rPr lang="en-US" sz="1100" b="1" spc="200" kern="0" dirty="0">
                <a:solidFill>
                  <a:srgbClr val="0E7E69"/>
                </a:solidFill>
                <a:latin typeface="Calibri" pitchFamily="34" charset="0"/>
                <a:ea typeface="Calibri" pitchFamily="34" charset="-122"/>
                <a:cs typeface="Calibri" pitchFamily="34" charset="-120"/>
              </a:rPr>
              <a:t>II. POO</a:t>
            </a:r>
            <a:endParaRPr lang="en-US" sz="1100" dirty="0"/>
          </a:p>
        </p:txBody>
      </p:sp>
      <p:sp>
        <p:nvSpPr>
          <p:cNvPr id="4" name="Text 2"/>
          <p:cNvSpPr/>
          <p:nvPr/>
        </p:nvSpPr>
        <p:spPr>
          <a:xfrm>
            <a:off x="457200" y="658368"/>
            <a:ext cx="8229600" cy="640080"/>
          </a:xfrm>
          <a:prstGeom prst="rect">
            <a:avLst/>
          </a:prstGeom>
          <a:noFill/>
          <a:ln/>
        </p:spPr>
        <p:txBody>
          <a:bodyPr wrap="square" lIns="0" tIns="0" rIns="0" bIns="0" rtlCol="0" anchor="ctr"/>
          <a:lstStyle/>
          <a:p>
            <a:pPr indent="0" marL="0">
              <a:buNone/>
            </a:pPr>
            <a:r>
              <a:rPr lang="en-US" sz="2600" b="1" dirty="0">
                <a:solidFill>
                  <a:srgbClr val="16263A"/>
                </a:solidFill>
                <a:latin typeface="Trebuchet MS" pitchFamily="34" charset="0"/>
                <a:ea typeface="Trebuchet MS" pitchFamily="34" charset="-122"/>
                <a:cs typeface="Trebuchet MS" pitchFamily="34" charset="-120"/>
              </a:rPr>
              <a:t>Clases y objetos: el molde y la instancia</a:t>
            </a:r>
            <a:endParaRPr lang="en-US" sz="2600" dirty="0"/>
          </a:p>
        </p:txBody>
      </p:sp>
      <p:sp>
        <p:nvSpPr>
          <p:cNvPr id="5" name="Shape 3"/>
          <p:cNvSpPr/>
          <p:nvPr/>
        </p:nvSpPr>
        <p:spPr>
          <a:xfrm>
            <a:off x="457200" y="1554480"/>
            <a:ext cx="4023360" cy="2834640"/>
          </a:xfrm>
          <a:prstGeom prst="rect">
            <a:avLst/>
          </a:prstGeom>
          <a:solidFill>
            <a:srgbClr val="FFFFFF"/>
          </a:solidFill>
          <a:ln w="12700">
            <a:solidFill>
              <a:srgbClr val="D8E0E6"/>
            </a:solidFill>
            <a:prstDash val="solid"/>
          </a:ln>
          <a:effectLst>
            <a:outerShdw sx="100000" sy="100000" kx="0" ky="0" algn="bl" rotWithShape="0" blurRad="88900" dist="38100" dir="8100000">
              <a:srgbClr val="000000">
                <a:alpha val="13000"/>
              </a:srgbClr>
            </a:outerShdw>
          </a:effectLst>
        </p:spPr>
      </p:sp>
      <p:sp>
        <p:nvSpPr>
          <p:cNvPr id="6" name="Shape 4"/>
          <p:cNvSpPr/>
          <p:nvPr/>
        </p:nvSpPr>
        <p:spPr>
          <a:xfrm>
            <a:off x="457200" y="1554480"/>
            <a:ext cx="64008" cy="2834640"/>
          </a:xfrm>
          <a:prstGeom prst="rect">
            <a:avLst/>
          </a:prstGeom>
          <a:solidFill>
            <a:srgbClr val="13A48A"/>
          </a:solidFill>
          <a:ln/>
        </p:spPr>
      </p:sp>
      <p:sp>
        <p:nvSpPr>
          <p:cNvPr id="7" name="Text 5"/>
          <p:cNvSpPr/>
          <p:nvPr/>
        </p:nvSpPr>
        <p:spPr>
          <a:xfrm>
            <a:off x="713232" y="1828800"/>
            <a:ext cx="3611880" cy="1828800"/>
          </a:xfrm>
          <a:prstGeom prst="rect">
            <a:avLst/>
          </a:prstGeom>
          <a:noFill/>
          <a:ln/>
        </p:spPr>
        <p:txBody>
          <a:bodyPr wrap="square" rtlCol="0" anchor="t"/>
          <a:lstStyle/>
          <a:p>
            <a:pPr indent="0" marL="0">
              <a:lnSpc>
                <a:spcPct val="108000"/>
              </a:lnSpc>
              <a:buNone/>
            </a:pPr>
            <a:r>
              <a:rPr lang="en-US" sz="1300" b="1" dirty="0">
                <a:solidFill>
                  <a:srgbClr val="16263A"/>
                </a:solidFill>
                <a:latin typeface="Calibri" pitchFamily="34" charset="0"/>
                <a:ea typeface="Calibri" pitchFamily="34" charset="-122"/>
                <a:cs typeface="Calibri" pitchFamily="34" charset="-120"/>
              </a:rPr>
              <a:t>Clase: </a:t>
            </a:r>
            <a:pPr indent="0" marL="0">
              <a:lnSpc>
                <a:spcPct val="108000"/>
              </a:lnSpc>
              <a:buNone/>
            </a:pPr>
            <a:r>
              <a:rPr lang="en-US" sz="1300" dirty="0">
                <a:solidFill>
                  <a:srgbClr val="3E5C76"/>
                </a:solidFill>
                <a:latin typeface="Calibri" pitchFamily="34" charset="0"/>
                <a:ea typeface="Calibri" pitchFamily="34" charset="-122"/>
                <a:cs typeface="Calibri" pitchFamily="34" charset="-120"/>
              </a:rPr>
              <a:t>el molde que define un nuevo tipo de dato.</a:t>
            </a:r>
            <a:endParaRPr lang="en-US" sz="1300" dirty="0"/>
          </a:p>
          <a:p>
            <a:pPr indent="0" marL="0">
              <a:lnSpc>
                <a:spcPct val="108000"/>
              </a:lnSpc>
              <a:buNone/>
            </a:pPr>
            <a:endParaRPr lang="en-US" sz="1300" dirty="0"/>
          </a:p>
          <a:p>
            <a:pPr indent="0" marL="0">
              <a:lnSpc>
                <a:spcPct val="108000"/>
              </a:lnSpc>
              <a:buNone/>
            </a:pPr>
            <a:r>
              <a:rPr lang="en-US" sz="1300" b="1" dirty="0">
                <a:solidFill>
                  <a:srgbClr val="16263A"/>
                </a:solidFill>
                <a:latin typeface="Calibri" pitchFamily="34" charset="0"/>
                <a:ea typeface="Calibri" pitchFamily="34" charset="-122"/>
                <a:cs typeface="Calibri" pitchFamily="34" charset="-120"/>
              </a:rPr>
              <a:t>Objeto: </a:t>
            </a:r>
            <a:pPr indent="0" marL="0">
              <a:lnSpc>
                <a:spcPct val="108000"/>
              </a:lnSpc>
              <a:buNone/>
            </a:pPr>
            <a:r>
              <a:rPr lang="en-US" sz="1300" dirty="0">
                <a:solidFill>
                  <a:srgbClr val="3E5C76"/>
                </a:solidFill>
                <a:latin typeface="Calibri" pitchFamily="34" charset="0"/>
                <a:ea typeface="Calibri" pitchFamily="34" charset="-122"/>
                <a:cs typeface="Calibri" pitchFamily="34" charset="-120"/>
              </a:rPr>
              <a:t>una instancia creada a partir de la clase. A ese proceso se le llama instanciación.</a:t>
            </a:r>
            <a:endParaRPr lang="en-US" sz="1300" dirty="0"/>
          </a:p>
        </p:txBody>
      </p:sp>
      <p:sp>
        <p:nvSpPr>
          <p:cNvPr id="8" name="Shape 6"/>
          <p:cNvSpPr/>
          <p:nvPr/>
        </p:nvSpPr>
        <p:spPr>
          <a:xfrm>
            <a:off x="4800600" y="1554480"/>
            <a:ext cx="3886200" cy="2834640"/>
          </a:xfrm>
          <a:prstGeom prst="rect">
            <a:avLst/>
          </a:prstGeom>
          <a:solidFill>
            <a:srgbClr val="0F2233"/>
          </a:solidFill>
          <a:ln/>
          <a:effectLst>
            <a:outerShdw sx="100000" sy="100000" kx="0" ky="0" algn="bl" rotWithShape="0" blurRad="88900" dist="38100" dir="8100000">
              <a:srgbClr val="000000">
                <a:alpha val="13000"/>
              </a:srgbClr>
            </a:outerShdw>
          </a:effectLst>
        </p:spPr>
      </p:sp>
      <p:sp>
        <p:nvSpPr>
          <p:cNvPr id="9" name="Shape 7"/>
          <p:cNvSpPr/>
          <p:nvPr/>
        </p:nvSpPr>
        <p:spPr>
          <a:xfrm>
            <a:off x="4800600" y="1554480"/>
            <a:ext cx="64008" cy="2834640"/>
          </a:xfrm>
          <a:prstGeom prst="rect">
            <a:avLst/>
          </a:prstGeom>
          <a:solidFill>
            <a:srgbClr val="13A48A"/>
          </a:solidFill>
          <a:ln/>
        </p:spPr>
      </p:sp>
      <p:sp>
        <p:nvSpPr>
          <p:cNvPr id="10" name="Text 8"/>
          <p:cNvSpPr/>
          <p:nvPr/>
        </p:nvSpPr>
        <p:spPr>
          <a:xfrm>
            <a:off x="4983480" y="1664208"/>
            <a:ext cx="3566160" cy="2615184"/>
          </a:xfrm>
          <a:prstGeom prst="rect">
            <a:avLst/>
          </a:prstGeom>
          <a:noFill/>
          <a:ln/>
        </p:spPr>
        <p:txBody>
          <a:bodyPr wrap="square" lIns="0" tIns="0" rIns="0" bIns="0" rtlCol="0" anchor="t"/>
          <a:lstStyle/>
          <a:p>
            <a:pPr indent="0" marL="0">
              <a:lnSpc>
                <a:spcPct val="105000"/>
              </a:lnSpc>
              <a:buNone/>
            </a:pPr>
            <a:r>
              <a:rPr lang="en-US" sz="950" dirty="0">
                <a:solidFill>
                  <a:srgbClr val="CFE8E1"/>
                </a:solidFill>
                <a:latin typeface="Consolas" pitchFamily="34" charset="0"/>
                <a:ea typeface="Consolas" pitchFamily="34" charset="-122"/>
                <a:cs typeface="Consolas" pitchFamily="34" charset="-120"/>
              </a:rPr>
              <a:t>class Moto:        # definir el molde</a:t>
            </a:r>
            <a:endParaRPr lang="en-US" sz="950" dirty="0"/>
          </a:p>
          <a:p>
            <a:pPr indent="0" marL="0">
              <a:lnSpc>
                <a:spcPct val="105000"/>
              </a:lnSpc>
              <a:buNone/>
            </a:pPr>
            <a:r>
              <a:rPr lang="en-US" sz="950" dirty="0">
                <a:solidFill>
                  <a:srgbClr val="CFE8E1"/>
                </a:solidFill>
                <a:latin typeface="Consolas" pitchFamily="34" charset="0"/>
                <a:ea typeface="Consolas" pitchFamily="34" charset="-122"/>
                <a:cs typeface="Consolas" pitchFamily="34" charset="-120"/>
              </a:rPr>
              <a:t>    pass</a:t>
            </a:r>
            <a:endParaRPr lang="en-US" sz="950" dirty="0"/>
          </a:p>
          <a:p>
            <a:pPr indent="0" marL="0">
              <a:lnSpc>
                <a:spcPct val="105000"/>
              </a:lnSpc>
              <a:buNone/>
            </a:pPr>
            <a:endParaRPr lang="en-US" sz="950" dirty="0"/>
          </a:p>
          <a:p>
            <a:pPr indent="0" marL="0">
              <a:lnSpc>
                <a:spcPct val="105000"/>
              </a:lnSpc>
              <a:buNone/>
            </a:pPr>
            <a:r>
              <a:rPr lang="en-US" sz="950" dirty="0">
                <a:solidFill>
                  <a:srgbClr val="CFE8E1"/>
                </a:solidFill>
                <a:latin typeface="Consolas" pitchFamily="34" charset="0"/>
                <a:ea typeface="Consolas" pitchFamily="34" charset="-122"/>
                <a:cs typeface="Consolas" pitchFamily="34" charset="-120"/>
              </a:rPr>
              <a:t>moto1 = Moto()     # instanciar</a:t>
            </a:r>
            <a:endParaRPr lang="en-US" sz="950" dirty="0"/>
          </a:p>
          <a:p>
            <a:pPr indent="0" marL="0">
              <a:lnSpc>
                <a:spcPct val="105000"/>
              </a:lnSpc>
              <a:buNone/>
            </a:pPr>
            <a:r>
              <a:rPr lang="en-US" sz="950" dirty="0">
                <a:solidFill>
                  <a:srgbClr val="CFE8E1"/>
                </a:solidFill>
                <a:latin typeface="Consolas" pitchFamily="34" charset="0"/>
                <a:ea typeface="Consolas" pitchFamily="34" charset="-122"/>
                <a:cs typeface="Consolas" pitchFamily="34" charset="-120"/>
              </a:rPr>
              <a:t>moto2 = Moto()     # otra instancia</a:t>
            </a:r>
            <a:endParaRPr lang="en-US" sz="950" dirty="0"/>
          </a:p>
          <a:p>
            <a:pPr indent="0" marL="0">
              <a:lnSpc>
                <a:spcPct val="105000"/>
              </a:lnSpc>
              <a:buNone/>
            </a:pPr>
            <a:endParaRPr lang="en-US" sz="950" dirty="0"/>
          </a:p>
          <a:p>
            <a:pPr indent="0" marL="0">
              <a:lnSpc>
                <a:spcPct val="105000"/>
              </a:lnSpc>
              <a:buNone/>
            </a:pPr>
            <a:r>
              <a:rPr lang="en-US" sz="950" dirty="0">
                <a:solidFill>
                  <a:srgbClr val="CFE8E1"/>
                </a:solidFill>
                <a:latin typeface="Consolas" pitchFamily="34" charset="0"/>
                <a:ea typeface="Consolas" pitchFamily="34" charset="-122"/>
                <a:cs typeface="Consolas" pitchFamily="34" charset="-120"/>
              </a:rPr>
              <a:t>type(moto1)</a:t>
            </a:r>
            <a:endParaRPr lang="en-US" sz="950" dirty="0"/>
          </a:p>
          <a:p>
            <a:pPr indent="0" marL="0">
              <a:lnSpc>
                <a:spcPct val="105000"/>
              </a:lnSpc>
              <a:buNone/>
            </a:pPr>
            <a:r>
              <a:rPr lang="en-US" sz="950" dirty="0">
                <a:solidFill>
                  <a:srgbClr val="CFE8E1"/>
                </a:solidFill>
                <a:latin typeface="Consolas" pitchFamily="34" charset="0"/>
                <a:ea typeface="Consolas" pitchFamily="34" charset="-122"/>
                <a:cs typeface="Consolas" pitchFamily="34" charset="-120"/>
              </a:rPr>
              <a:t># &lt;class '__main__.Moto'&gt;</a:t>
            </a:r>
            <a:endParaRPr lang="en-US" sz="950" dirty="0"/>
          </a:p>
        </p:txBody>
      </p:sp>
      <p:sp>
        <p:nvSpPr>
          <p:cNvPr id="11" name="Text 9"/>
          <p:cNvSpPr/>
          <p:nvPr/>
        </p:nvSpPr>
        <p:spPr>
          <a:xfrm>
            <a:off x="457200" y="4828032"/>
            <a:ext cx="5943600" cy="228600"/>
          </a:xfrm>
          <a:prstGeom prst="rect">
            <a:avLst/>
          </a:prstGeom>
          <a:noFill/>
          <a:ln/>
        </p:spPr>
        <p:txBody>
          <a:bodyPr wrap="square" rtlCol="0" anchor="ctr"/>
          <a:lstStyle/>
          <a:p>
            <a:pPr indent="0" marL="0">
              <a:buNone/>
            </a:pPr>
            <a:r>
              <a:rPr lang="en-US" sz="800" dirty="0">
                <a:solidFill>
                  <a:srgbClr val="6B7B8C"/>
                </a:solidFill>
                <a:latin typeface="Calibri" pitchFamily="34" charset="0"/>
                <a:ea typeface="Calibri" pitchFamily="34" charset="-122"/>
                <a:cs typeface="Calibri" pitchFamily="34" charset="-120"/>
              </a:rPr>
              <a:t>POO en Python · Parte práctica · Semana 2 · MCDI500</a:t>
            </a:r>
            <a:endParaRPr lang="en-US" sz="800" dirty="0"/>
          </a:p>
        </p:txBody>
      </p:sp>
      <p:sp>
        <p:nvSpPr>
          <p:cNvPr id="12" name="Text 10"/>
          <p:cNvSpPr/>
          <p:nvPr/>
        </p:nvSpPr>
        <p:spPr>
          <a:xfrm>
            <a:off x="8321040" y="4828032"/>
            <a:ext cx="365760" cy="228600"/>
          </a:xfrm>
          <a:prstGeom prst="rect">
            <a:avLst/>
          </a:prstGeom>
          <a:noFill/>
          <a:ln/>
        </p:spPr>
        <p:txBody>
          <a:bodyPr wrap="square" rtlCol="0" anchor="ctr"/>
          <a:lstStyle/>
          <a:p>
            <a:pPr algn="r" indent="0" marL="0">
              <a:buNone/>
            </a:pPr>
            <a:r>
              <a:rPr lang="en-US" sz="900" dirty="0">
                <a:solidFill>
                  <a:srgbClr val="6B7B8C"/>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20624"/>
            <a:ext cx="146304" cy="146304"/>
          </a:xfrm>
          <a:prstGeom prst="rect">
            <a:avLst/>
          </a:prstGeom>
          <a:solidFill>
            <a:srgbClr val="13A48A"/>
          </a:solidFill>
          <a:ln/>
        </p:spPr>
      </p:sp>
      <p:sp>
        <p:nvSpPr>
          <p:cNvPr id="3" name="Text 1"/>
          <p:cNvSpPr/>
          <p:nvPr/>
        </p:nvSpPr>
        <p:spPr>
          <a:xfrm>
            <a:off x="676656" y="365760"/>
            <a:ext cx="7955280" cy="274320"/>
          </a:xfrm>
          <a:prstGeom prst="rect">
            <a:avLst/>
          </a:prstGeom>
          <a:noFill/>
          <a:ln/>
        </p:spPr>
        <p:txBody>
          <a:bodyPr wrap="square" lIns="0" tIns="0" rIns="0" bIns="0" rtlCol="0" anchor="ctr"/>
          <a:lstStyle/>
          <a:p>
            <a:pPr indent="0" marL="0">
              <a:buNone/>
            </a:pPr>
            <a:r>
              <a:rPr lang="en-US" sz="1100" b="1" spc="200" kern="0" dirty="0">
                <a:solidFill>
                  <a:srgbClr val="0E7E69"/>
                </a:solidFill>
                <a:latin typeface="Calibri" pitchFamily="34" charset="0"/>
                <a:ea typeface="Calibri" pitchFamily="34" charset="-122"/>
                <a:cs typeface="Calibri" pitchFamily="34" charset="-120"/>
              </a:rPr>
              <a:t>II. POO</a:t>
            </a:r>
            <a:endParaRPr lang="en-US" sz="1100" dirty="0"/>
          </a:p>
        </p:txBody>
      </p:sp>
      <p:sp>
        <p:nvSpPr>
          <p:cNvPr id="4" name="Text 2"/>
          <p:cNvSpPr/>
          <p:nvPr/>
        </p:nvSpPr>
        <p:spPr>
          <a:xfrm>
            <a:off x="457200" y="658368"/>
            <a:ext cx="8229600" cy="640080"/>
          </a:xfrm>
          <a:prstGeom prst="rect">
            <a:avLst/>
          </a:prstGeom>
          <a:noFill/>
          <a:ln/>
        </p:spPr>
        <p:txBody>
          <a:bodyPr wrap="square" lIns="0" tIns="0" rIns="0" bIns="0" rtlCol="0" anchor="ctr"/>
          <a:lstStyle/>
          <a:p>
            <a:pPr indent="0" marL="0">
              <a:buNone/>
            </a:pPr>
            <a:r>
              <a:rPr lang="en-US" sz="2600" b="1" dirty="0">
                <a:solidFill>
                  <a:srgbClr val="16263A"/>
                </a:solidFill>
                <a:latin typeface="Trebuchet MS" pitchFamily="34" charset="0"/>
                <a:ea typeface="Trebuchet MS" pitchFamily="34" charset="-122"/>
                <a:cs typeface="Trebuchet MS" pitchFamily="34" charset="-120"/>
              </a:rPr>
              <a:t>Métodos y el parámetro self</a:t>
            </a:r>
            <a:endParaRPr lang="en-US" sz="2600" dirty="0"/>
          </a:p>
        </p:txBody>
      </p:sp>
      <p:sp>
        <p:nvSpPr>
          <p:cNvPr id="5" name="Shape 3"/>
          <p:cNvSpPr/>
          <p:nvPr/>
        </p:nvSpPr>
        <p:spPr>
          <a:xfrm>
            <a:off x="457200" y="1554480"/>
            <a:ext cx="4023360" cy="2834640"/>
          </a:xfrm>
          <a:prstGeom prst="rect">
            <a:avLst/>
          </a:prstGeom>
          <a:solidFill>
            <a:srgbClr val="FFFFFF"/>
          </a:solidFill>
          <a:ln w="12700">
            <a:solidFill>
              <a:srgbClr val="D8E0E6"/>
            </a:solidFill>
            <a:prstDash val="solid"/>
          </a:ln>
          <a:effectLst>
            <a:outerShdw sx="100000" sy="100000" kx="0" ky="0" algn="bl" rotWithShape="0" blurRad="88900" dist="38100" dir="8100000">
              <a:srgbClr val="000000">
                <a:alpha val="13000"/>
              </a:srgbClr>
            </a:outerShdw>
          </a:effectLst>
        </p:spPr>
      </p:sp>
      <p:sp>
        <p:nvSpPr>
          <p:cNvPr id="6" name="Shape 4"/>
          <p:cNvSpPr/>
          <p:nvPr/>
        </p:nvSpPr>
        <p:spPr>
          <a:xfrm>
            <a:off x="457200" y="1554480"/>
            <a:ext cx="64008" cy="2834640"/>
          </a:xfrm>
          <a:prstGeom prst="rect">
            <a:avLst/>
          </a:prstGeom>
          <a:solidFill>
            <a:srgbClr val="E0654A"/>
          </a:solidFill>
          <a:ln/>
        </p:spPr>
      </p:sp>
      <p:sp>
        <p:nvSpPr>
          <p:cNvPr id="7" name="Text 5"/>
          <p:cNvSpPr/>
          <p:nvPr/>
        </p:nvSpPr>
        <p:spPr>
          <a:xfrm>
            <a:off x="713232" y="1828800"/>
            <a:ext cx="3611880" cy="2011680"/>
          </a:xfrm>
          <a:prstGeom prst="rect">
            <a:avLst/>
          </a:prstGeom>
          <a:noFill/>
          <a:ln/>
        </p:spPr>
        <p:txBody>
          <a:bodyPr wrap="square" rtlCol="0" anchor="t"/>
          <a:lstStyle/>
          <a:p>
            <a:pPr indent="0" marL="0">
              <a:lnSpc>
                <a:spcPct val="108000"/>
              </a:lnSpc>
              <a:buNone/>
            </a:pPr>
            <a:r>
              <a:rPr lang="en-US" sz="1300" b="1" dirty="0">
                <a:solidFill>
                  <a:srgbClr val="16263A"/>
                </a:solidFill>
                <a:latin typeface="Calibri" pitchFamily="34" charset="0"/>
                <a:ea typeface="Calibri" pitchFamily="34" charset="-122"/>
                <a:cs typeface="Calibri" pitchFamily="34" charset="-120"/>
              </a:rPr>
              <a:t>Método: </a:t>
            </a:r>
            <a:pPr indent="0" marL="0">
              <a:lnSpc>
                <a:spcPct val="108000"/>
              </a:lnSpc>
              <a:buNone/>
            </a:pPr>
            <a:r>
              <a:rPr lang="en-US" sz="1300" dirty="0">
                <a:solidFill>
                  <a:srgbClr val="3E5C76"/>
                </a:solidFill>
                <a:latin typeface="Calibri" pitchFamily="34" charset="0"/>
                <a:ea typeface="Calibri" pitchFamily="34" charset="-122"/>
                <a:cs typeface="Calibri" pitchFamily="34" charset="-120"/>
              </a:rPr>
              <a:t>una función definida dentro de una clase; representa una acción del objeto.</a:t>
            </a:r>
            <a:endParaRPr lang="en-US" sz="1300" dirty="0"/>
          </a:p>
          <a:p>
            <a:pPr indent="0" marL="0">
              <a:lnSpc>
                <a:spcPct val="108000"/>
              </a:lnSpc>
              <a:buNone/>
            </a:pPr>
            <a:endParaRPr lang="en-US" sz="1300" dirty="0"/>
          </a:p>
          <a:p>
            <a:pPr indent="0" marL="0">
              <a:lnSpc>
                <a:spcPct val="108000"/>
              </a:lnSpc>
              <a:buNone/>
            </a:pPr>
            <a:r>
              <a:rPr lang="en-US" sz="1300" b="1" dirty="0">
                <a:solidFill>
                  <a:srgbClr val="16263A"/>
                </a:solidFill>
                <a:latin typeface="Consolas" pitchFamily="34" charset="0"/>
                <a:ea typeface="Consolas" pitchFamily="34" charset="-122"/>
                <a:cs typeface="Consolas" pitchFamily="34" charset="-120"/>
              </a:rPr>
              <a:t>self: </a:t>
            </a:r>
            <a:pPr indent="0" marL="0">
              <a:lnSpc>
                <a:spcPct val="108000"/>
              </a:lnSpc>
              <a:buNone/>
            </a:pPr>
            <a:r>
              <a:rPr lang="en-US" sz="1300" dirty="0">
                <a:solidFill>
                  <a:srgbClr val="3E5C76"/>
                </a:solidFill>
                <a:latin typeface="Calibri" pitchFamily="34" charset="0"/>
                <a:ea typeface="Calibri" pitchFamily="34" charset="-122"/>
                <a:cs typeface="Calibri" pitchFamily="34" charset="-120"/>
              </a:rPr>
              <a:t>primer parámetro de todo método; representa la instancia concreta que lo invoca.</a:t>
            </a:r>
            <a:endParaRPr lang="en-US" sz="1300" dirty="0"/>
          </a:p>
        </p:txBody>
      </p:sp>
      <p:sp>
        <p:nvSpPr>
          <p:cNvPr id="8" name="Shape 6"/>
          <p:cNvSpPr/>
          <p:nvPr/>
        </p:nvSpPr>
        <p:spPr>
          <a:xfrm>
            <a:off x="4800600" y="1554480"/>
            <a:ext cx="3886200" cy="2834640"/>
          </a:xfrm>
          <a:prstGeom prst="rect">
            <a:avLst/>
          </a:prstGeom>
          <a:solidFill>
            <a:srgbClr val="0F2233"/>
          </a:solidFill>
          <a:ln/>
          <a:effectLst>
            <a:outerShdw sx="100000" sy="100000" kx="0" ky="0" algn="bl" rotWithShape="0" blurRad="88900" dist="38100" dir="8100000">
              <a:srgbClr val="000000">
                <a:alpha val="13000"/>
              </a:srgbClr>
            </a:outerShdw>
          </a:effectLst>
        </p:spPr>
      </p:sp>
      <p:sp>
        <p:nvSpPr>
          <p:cNvPr id="9" name="Shape 7"/>
          <p:cNvSpPr/>
          <p:nvPr/>
        </p:nvSpPr>
        <p:spPr>
          <a:xfrm>
            <a:off x="4800600" y="1554480"/>
            <a:ext cx="64008" cy="2834640"/>
          </a:xfrm>
          <a:prstGeom prst="rect">
            <a:avLst/>
          </a:prstGeom>
          <a:solidFill>
            <a:srgbClr val="13A48A"/>
          </a:solidFill>
          <a:ln/>
        </p:spPr>
      </p:sp>
      <p:sp>
        <p:nvSpPr>
          <p:cNvPr id="10" name="Text 8"/>
          <p:cNvSpPr/>
          <p:nvPr/>
        </p:nvSpPr>
        <p:spPr>
          <a:xfrm>
            <a:off x="4983480" y="1664208"/>
            <a:ext cx="3566160" cy="2615184"/>
          </a:xfrm>
          <a:prstGeom prst="rect">
            <a:avLst/>
          </a:prstGeom>
          <a:noFill/>
          <a:ln/>
        </p:spPr>
        <p:txBody>
          <a:bodyPr wrap="square" lIns="0" tIns="0" rIns="0" bIns="0" rtlCol="0" anchor="t"/>
          <a:lstStyle/>
          <a:p>
            <a:pPr indent="0" marL="0">
              <a:lnSpc>
                <a:spcPct val="105000"/>
              </a:lnSpc>
              <a:buNone/>
            </a:pPr>
            <a:r>
              <a:rPr lang="en-US" sz="950" dirty="0">
                <a:solidFill>
                  <a:srgbClr val="CFE8E1"/>
                </a:solidFill>
                <a:latin typeface="Consolas" pitchFamily="34" charset="0"/>
                <a:ea typeface="Consolas" pitchFamily="34" charset="-122"/>
                <a:cs typeface="Consolas" pitchFamily="34" charset="-120"/>
              </a:rPr>
              <a:t>class Moto:</a:t>
            </a:r>
            <a:endParaRPr lang="en-US" sz="950" dirty="0"/>
          </a:p>
          <a:p>
            <a:pPr indent="0" marL="0">
              <a:lnSpc>
                <a:spcPct val="105000"/>
              </a:lnSpc>
              <a:buNone/>
            </a:pPr>
            <a:r>
              <a:rPr lang="en-US" sz="950" dirty="0">
                <a:solidFill>
                  <a:srgbClr val="CFE8E1"/>
                </a:solidFill>
                <a:latin typeface="Consolas" pitchFamily="34" charset="0"/>
                <a:ea typeface="Consolas" pitchFamily="34" charset="-122"/>
                <a:cs typeface="Consolas" pitchFamily="34" charset="-120"/>
              </a:rPr>
              <a:t>    def velocidad_maxima(self):</a:t>
            </a:r>
            <a:endParaRPr lang="en-US" sz="950" dirty="0"/>
          </a:p>
          <a:p>
            <a:pPr indent="0" marL="0">
              <a:lnSpc>
                <a:spcPct val="105000"/>
              </a:lnSpc>
              <a:buNone/>
            </a:pPr>
            <a:r>
              <a:rPr lang="en-US" sz="950" dirty="0">
                <a:solidFill>
                  <a:srgbClr val="CFE8E1"/>
                </a:solidFill>
                <a:latin typeface="Consolas" pitchFamily="34" charset="0"/>
                <a:ea typeface="Consolas" pitchFamily="34" charset="-122"/>
                <a:cs typeface="Consolas" pitchFamily="34" charset="-120"/>
              </a:rPr>
              <a:t>        print('Velocidad máxima: ...')</a:t>
            </a:r>
            <a:endParaRPr lang="en-US" sz="950" dirty="0"/>
          </a:p>
          <a:p>
            <a:pPr indent="0" marL="0">
              <a:lnSpc>
                <a:spcPct val="105000"/>
              </a:lnSpc>
              <a:buNone/>
            </a:pPr>
            <a:endParaRPr lang="en-US" sz="950" dirty="0"/>
          </a:p>
          <a:p>
            <a:pPr indent="0" marL="0">
              <a:lnSpc>
                <a:spcPct val="105000"/>
              </a:lnSpc>
              <a:buNone/>
            </a:pPr>
            <a:r>
              <a:rPr lang="en-US" sz="950" dirty="0">
                <a:solidFill>
                  <a:srgbClr val="CFE8E1"/>
                </a:solidFill>
                <a:latin typeface="Consolas" pitchFamily="34" charset="0"/>
                <a:ea typeface="Consolas" pitchFamily="34" charset="-122"/>
                <a:cs typeface="Consolas" pitchFamily="34" charset="-120"/>
              </a:rPr>
              <a:t>moto1 = Moto()</a:t>
            </a:r>
            <a:endParaRPr lang="en-US" sz="950" dirty="0"/>
          </a:p>
          <a:p>
            <a:pPr indent="0" marL="0">
              <a:lnSpc>
                <a:spcPct val="105000"/>
              </a:lnSpc>
              <a:buNone/>
            </a:pPr>
            <a:r>
              <a:rPr lang="en-US" sz="950" dirty="0">
                <a:solidFill>
                  <a:srgbClr val="CFE8E1"/>
                </a:solidFill>
                <a:latin typeface="Consolas" pitchFamily="34" charset="0"/>
                <a:ea typeface="Consolas" pitchFamily="34" charset="-122"/>
                <a:cs typeface="Consolas" pitchFamily="34" charset="-120"/>
              </a:rPr>
              <a:t>moto1.velocidad_maxima()</a:t>
            </a:r>
            <a:endParaRPr lang="en-US" sz="950" dirty="0"/>
          </a:p>
          <a:p>
            <a:pPr indent="0" marL="0">
              <a:lnSpc>
                <a:spcPct val="105000"/>
              </a:lnSpc>
              <a:buNone/>
            </a:pPr>
            <a:r>
              <a:rPr lang="en-US" sz="950" dirty="0">
                <a:solidFill>
                  <a:srgbClr val="CFE8E1"/>
                </a:solidFill>
                <a:latin typeface="Consolas" pitchFamily="34" charset="0"/>
                <a:ea typeface="Consolas" pitchFamily="34" charset="-122"/>
                <a:cs typeface="Consolas" pitchFamily="34" charset="-120"/>
              </a:rPr>
              <a:t># se invoca a traves del objeto</a:t>
            </a:r>
            <a:endParaRPr lang="en-US" sz="950" dirty="0"/>
          </a:p>
        </p:txBody>
      </p:sp>
      <p:sp>
        <p:nvSpPr>
          <p:cNvPr id="11" name="Text 9"/>
          <p:cNvSpPr/>
          <p:nvPr/>
        </p:nvSpPr>
        <p:spPr>
          <a:xfrm>
            <a:off x="457200" y="4828032"/>
            <a:ext cx="5943600" cy="228600"/>
          </a:xfrm>
          <a:prstGeom prst="rect">
            <a:avLst/>
          </a:prstGeom>
          <a:noFill/>
          <a:ln/>
        </p:spPr>
        <p:txBody>
          <a:bodyPr wrap="square" rtlCol="0" anchor="ctr"/>
          <a:lstStyle/>
          <a:p>
            <a:pPr indent="0" marL="0">
              <a:buNone/>
            </a:pPr>
            <a:r>
              <a:rPr lang="en-US" sz="800" dirty="0">
                <a:solidFill>
                  <a:srgbClr val="6B7B8C"/>
                </a:solidFill>
                <a:latin typeface="Calibri" pitchFamily="34" charset="0"/>
                <a:ea typeface="Calibri" pitchFamily="34" charset="-122"/>
                <a:cs typeface="Calibri" pitchFamily="34" charset="-120"/>
              </a:rPr>
              <a:t>POO en Python · Parte práctica · Semana 2 · MCDI500</a:t>
            </a:r>
            <a:endParaRPr lang="en-US" sz="800" dirty="0"/>
          </a:p>
        </p:txBody>
      </p:sp>
      <p:sp>
        <p:nvSpPr>
          <p:cNvPr id="12" name="Text 10"/>
          <p:cNvSpPr/>
          <p:nvPr/>
        </p:nvSpPr>
        <p:spPr>
          <a:xfrm>
            <a:off x="8321040" y="4828032"/>
            <a:ext cx="365760" cy="228600"/>
          </a:xfrm>
          <a:prstGeom prst="rect">
            <a:avLst/>
          </a:prstGeom>
          <a:noFill/>
          <a:ln/>
        </p:spPr>
        <p:txBody>
          <a:bodyPr wrap="square" rtlCol="0" anchor="ctr"/>
          <a:lstStyle/>
          <a:p>
            <a:pPr algn="r" indent="0" marL="0">
              <a:buNone/>
            </a:pPr>
            <a:r>
              <a:rPr lang="en-US" sz="900" dirty="0">
                <a:solidFill>
                  <a:srgbClr val="6B7B8C"/>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20624"/>
            <a:ext cx="146304" cy="146304"/>
          </a:xfrm>
          <a:prstGeom prst="rect">
            <a:avLst/>
          </a:prstGeom>
          <a:solidFill>
            <a:srgbClr val="13A48A"/>
          </a:solidFill>
          <a:ln/>
        </p:spPr>
      </p:sp>
      <p:sp>
        <p:nvSpPr>
          <p:cNvPr id="3" name="Text 1"/>
          <p:cNvSpPr/>
          <p:nvPr/>
        </p:nvSpPr>
        <p:spPr>
          <a:xfrm>
            <a:off x="676656" y="365760"/>
            <a:ext cx="7955280" cy="274320"/>
          </a:xfrm>
          <a:prstGeom prst="rect">
            <a:avLst/>
          </a:prstGeom>
          <a:noFill/>
          <a:ln/>
        </p:spPr>
        <p:txBody>
          <a:bodyPr wrap="square" lIns="0" tIns="0" rIns="0" bIns="0" rtlCol="0" anchor="ctr"/>
          <a:lstStyle/>
          <a:p>
            <a:pPr indent="0" marL="0">
              <a:buNone/>
            </a:pPr>
            <a:r>
              <a:rPr lang="en-US" sz="1100" b="1" spc="200" kern="0" dirty="0">
                <a:solidFill>
                  <a:srgbClr val="0E7E69"/>
                </a:solidFill>
                <a:latin typeface="Calibri" pitchFamily="34" charset="0"/>
                <a:ea typeface="Calibri" pitchFamily="34" charset="-122"/>
                <a:cs typeface="Calibri" pitchFamily="34" charset="-120"/>
              </a:rPr>
              <a:t>II. POO</a:t>
            </a:r>
            <a:endParaRPr lang="en-US" sz="1100" dirty="0"/>
          </a:p>
        </p:txBody>
      </p:sp>
      <p:sp>
        <p:nvSpPr>
          <p:cNvPr id="4" name="Text 2"/>
          <p:cNvSpPr/>
          <p:nvPr/>
        </p:nvSpPr>
        <p:spPr>
          <a:xfrm>
            <a:off x="457200" y="658368"/>
            <a:ext cx="8229600" cy="640080"/>
          </a:xfrm>
          <a:prstGeom prst="rect">
            <a:avLst/>
          </a:prstGeom>
          <a:noFill/>
          <a:ln/>
        </p:spPr>
        <p:txBody>
          <a:bodyPr wrap="square" lIns="0" tIns="0" rIns="0" bIns="0" rtlCol="0" anchor="ctr"/>
          <a:lstStyle/>
          <a:p>
            <a:pPr indent="0" marL="0">
              <a:buNone/>
            </a:pPr>
            <a:r>
              <a:rPr lang="en-US" sz="2600" b="1" dirty="0">
                <a:solidFill>
                  <a:srgbClr val="16263A"/>
                </a:solidFill>
                <a:latin typeface="Trebuchet MS" pitchFamily="34" charset="0"/>
                <a:ea typeface="Trebuchet MS" pitchFamily="34" charset="-122"/>
                <a:cs typeface="Trebuchet MS" pitchFamily="34" charset="-120"/>
              </a:rPr>
              <a:t>Atributos de clase vs. de instancia</a:t>
            </a:r>
            <a:endParaRPr lang="en-US" sz="2600" dirty="0"/>
          </a:p>
        </p:txBody>
      </p:sp>
      <p:sp>
        <p:nvSpPr>
          <p:cNvPr id="5" name="Shape 3"/>
          <p:cNvSpPr/>
          <p:nvPr/>
        </p:nvSpPr>
        <p:spPr>
          <a:xfrm>
            <a:off x="457200" y="1554480"/>
            <a:ext cx="4023360" cy="2834640"/>
          </a:xfrm>
          <a:prstGeom prst="rect">
            <a:avLst/>
          </a:prstGeom>
          <a:solidFill>
            <a:srgbClr val="FFFFFF"/>
          </a:solidFill>
          <a:ln w="12700">
            <a:solidFill>
              <a:srgbClr val="D8E0E6"/>
            </a:solidFill>
            <a:prstDash val="solid"/>
          </a:ln>
          <a:effectLst>
            <a:outerShdw sx="100000" sy="100000" kx="0" ky="0" algn="bl" rotWithShape="0" blurRad="88900" dist="38100" dir="8100000">
              <a:srgbClr val="000000">
                <a:alpha val="13000"/>
              </a:srgbClr>
            </a:outerShdw>
          </a:effectLst>
        </p:spPr>
      </p:sp>
      <p:sp>
        <p:nvSpPr>
          <p:cNvPr id="6" name="Shape 4"/>
          <p:cNvSpPr/>
          <p:nvPr/>
        </p:nvSpPr>
        <p:spPr>
          <a:xfrm>
            <a:off x="457200" y="1554480"/>
            <a:ext cx="64008" cy="2834640"/>
          </a:xfrm>
          <a:prstGeom prst="rect">
            <a:avLst/>
          </a:prstGeom>
          <a:solidFill>
            <a:srgbClr val="13A48A"/>
          </a:solidFill>
          <a:ln/>
        </p:spPr>
      </p:sp>
      <p:sp>
        <p:nvSpPr>
          <p:cNvPr id="7" name="Text 5"/>
          <p:cNvSpPr/>
          <p:nvPr/>
        </p:nvSpPr>
        <p:spPr>
          <a:xfrm>
            <a:off x="713232" y="1828800"/>
            <a:ext cx="3611880" cy="2011680"/>
          </a:xfrm>
          <a:prstGeom prst="rect">
            <a:avLst/>
          </a:prstGeom>
          <a:noFill/>
          <a:ln/>
        </p:spPr>
        <p:txBody>
          <a:bodyPr wrap="square" rtlCol="0" anchor="t"/>
          <a:lstStyle/>
          <a:p>
            <a:pPr indent="0" marL="0">
              <a:lnSpc>
                <a:spcPct val="108000"/>
              </a:lnSpc>
              <a:buNone/>
            </a:pPr>
            <a:r>
              <a:rPr lang="en-US" sz="1300" b="1" dirty="0">
                <a:solidFill>
                  <a:srgbClr val="0E7E69"/>
                </a:solidFill>
                <a:latin typeface="Calibri" pitchFamily="34" charset="0"/>
                <a:ea typeface="Calibri" pitchFamily="34" charset="-122"/>
                <a:cs typeface="Calibri" pitchFamily="34" charset="-120"/>
              </a:rPr>
              <a:t>De clase: </a:t>
            </a:r>
            <a:pPr indent="0" marL="0">
              <a:lnSpc>
                <a:spcPct val="108000"/>
              </a:lnSpc>
              <a:buNone/>
            </a:pPr>
            <a:r>
              <a:rPr lang="en-US" sz="1300" dirty="0">
                <a:solidFill>
                  <a:srgbClr val="3E5C76"/>
                </a:solidFill>
                <a:latin typeface="Calibri" pitchFamily="34" charset="0"/>
                <a:ea typeface="Calibri" pitchFamily="34" charset="-122"/>
                <a:cs typeface="Calibri" pitchFamily="34" charset="-120"/>
              </a:rPr>
              <a:t>definido en la clase; compartido por todas las instancias.</a:t>
            </a:r>
            <a:endParaRPr lang="en-US" sz="1300" dirty="0"/>
          </a:p>
          <a:p>
            <a:pPr indent="0" marL="0">
              <a:lnSpc>
                <a:spcPct val="108000"/>
              </a:lnSpc>
              <a:buNone/>
            </a:pPr>
            <a:endParaRPr lang="en-US" sz="1300" dirty="0"/>
          </a:p>
          <a:p>
            <a:pPr indent="0" marL="0">
              <a:lnSpc>
                <a:spcPct val="108000"/>
              </a:lnSpc>
              <a:buNone/>
            </a:pPr>
            <a:r>
              <a:rPr lang="en-US" sz="1300" b="1" dirty="0">
                <a:solidFill>
                  <a:srgbClr val="E0654A"/>
                </a:solidFill>
                <a:latin typeface="Calibri" pitchFamily="34" charset="0"/>
                <a:ea typeface="Calibri" pitchFamily="34" charset="-122"/>
                <a:cs typeface="Calibri" pitchFamily="34" charset="-120"/>
              </a:rPr>
              <a:t>De instancia: </a:t>
            </a:r>
            <a:pPr indent="0" marL="0">
              <a:lnSpc>
                <a:spcPct val="108000"/>
              </a:lnSpc>
              <a:buNone/>
            </a:pPr>
            <a:r>
              <a:rPr lang="en-US" sz="1300" dirty="0">
                <a:solidFill>
                  <a:srgbClr val="3E5C76"/>
                </a:solidFill>
                <a:latin typeface="Calibri" pitchFamily="34" charset="0"/>
                <a:ea typeface="Calibri" pitchFamily="34" charset="-122"/>
                <a:cs typeface="Calibri" pitchFamily="34" charset="-120"/>
              </a:rPr>
              <a:t>propio de cada objeto; se define en __init__ y puede variar entre instancias.</a:t>
            </a:r>
            <a:endParaRPr lang="en-US" sz="1300" dirty="0"/>
          </a:p>
        </p:txBody>
      </p:sp>
      <p:sp>
        <p:nvSpPr>
          <p:cNvPr id="8" name="Shape 6"/>
          <p:cNvSpPr/>
          <p:nvPr/>
        </p:nvSpPr>
        <p:spPr>
          <a:xfrm>
            <a:off x="4800600" y="1554480"/>
            <a:ext cx="3886200" cy="2834640"/>
          </a:xfrm>
          <a:prstGeom prst="rect">
            <a:avLst/>
          </a:prstGeom>
          <a:solidFill>
            <a:srgbClr val="0F2233"/>
          </a:solidFill>
          <a:ln/>
          <a:effectLst>
            <a:outerShdw sx="100000" sy="100000" kx="0" ky="0" algn="bl" rotWithShape="0" blurRad="88900" dist="38100" dir="8100000">
              <a:srgbClr val="000000">
                <a:alpha val="13000"/>
              </a:srgbClr>
            </a:outerShdw>
          </a:effectLst>
        </p:spPr>
      </p:sp>
      <p:sp>
        <p:nvSpPr>
          <p:cNvPr id="9" name="Shape 7"/>
          <p:cNvSpPr/>
          <p:nvPr/>
        </p:nvSpPr>
        <p:spPr>
          <a:xfrm>
            <a:off x="4800600" y="1554480"/>
            <a:ext cx="64008" cy="2834640"/>
          </a:xfrm>
          <a:prstGeom prst="rect">
            <a:avLst/>
          </a:prstGeom>
          <a:solidFill>
            <a:srgbClr val="13A48A"/>
          </a:solidFill>
          <a:ln/>
        </p:spPr>
      </p:sp>
      <p:sp>
        <p:nvSpPr>
          <p:cNvPr id="10" name="Text 8"/>
          <p:cNvSpPr/>
          <p:nvPr/>
        </p:nvSpPr>
        <p:spPr>
          <a:xfrm>
            <a:off x="4983480" y="1664208"/>
            <a:ext cx="3566160" cy="2615184"/>
          </a:xfrm>
          <a:prstGeom prst="rect">
            <a:avLst/>
          </a:prstGeom>
          <a:noFill/>
          <a:ln/>
        </p:spPr>
        <p:txBody>
          <a:bodyPr wrap="square" lIns="0" tIns="0" rIns="0" bIns="0" rtlCol="0" anchor="t"/>
          <a:lstStyle/>
          <a:p>
            <a:pPr indent="0" marL="0">
              <a:lnSpc>
                <a:spcPct val="105000"/>
              </a:lnSpc>
              <a:buNone/>
            </a:pPr>
            <a:r>
              <a:rPr lang="en-US" sz="950" dirty="0">
                <a:solidFill>
                  <a:srgbClr val="CFE8E1"/>
                </a:solidFill>
                <a:latin typeface="Consolas" pitchFamily="34" charset="0"/>
                <a:ea typeface="Consolas" pitchFamily="34" charset="-122"/>
                <a:cs typeface="Consolas" pitchFamily="34" charset="-120"/>
              </a:rPr>
              <a:t>class Moto:</a:t>
            </a:r>
            <a:endParaRPr lang="en-US" sz="950" dirty="0"/>
          </a:p>
          <a:p>
            <a:pPr indent="0" marL="0">
              <a:lnSpc>
                <a:spcPct val="105000"/>
              </a:lnSpc>
              <a:buNone/>
            </a:pPr>
            <a:r>
              <a:rPr lang="en-US" sz="950" dirty="0">
                <a:solidFill>
                  <a:srgbClr val="CFE8E1"/>
                </a:solidFill>
                <a:latin typeface="Consolas" pitchFamily="34" charset="0"/>
                <a:ea typeface="Consolas" pitchFamily="34" charset="-122"/>
                <a:cs typeface="Consolas" pitchFamily="34" charset="-120"/>
              </a:rPr>
              <a:t>    atributo_clase = 150   # de CLASE</a:t>
            </a:r>
            <a:endParaRPr lang="en-US" sz="950" dirty="0"/>
          </a:p>
          <a:p>
            <a:pPr indent="0" marL="0">
              <a:lnSpc>
                <a:spcPct val="105000"/>
              </a:lnSpc>
              <a:buNone/>
            </a:pPr>
            <a:endParaRPr lang="en-US" sz="950" dirty="0"/>
          </a:p>
          <a:p>
            <a:pPr indent="0" marL="0">
              <a:lnSpc>
                <a:spcPct val="105000"/>
              </a:lnSpc>
              <a:buNone/>
            </a:pPr>
            <a:r>
              <a:rPr lang="en-US" sz="950" dirty="0">
                <a:solidFill>
                  <a:srgbClr val="CFE8E1"/>
                </a:solidFill>
                <a:latin typeface="Consolas" pitchFamily="34" charset="0"/>
                <a:ea typeface="Consolas" pitchFamily="34" charset="-122"/>
                <a:cs typeface="Consolas" pitchFamily="34" charset="-120"/>
              </a:rPr>
              <a:t>    def __init__(self, vel):</a:t>
            </a:r>
            <a:endParaRPr lang="en-US" sz="950" dirty="0"/>
          </a:p>
          <a:p>
            <a:pPr indent="0" marL="0">
              <a:lnSpc>
                <a:spcPct val="105000"/>
              </a:lnSpc>
              <a:buNone/>
            </a:pPr>
            <a:r>
              <a:rPr lang="en-US" sz="950" dirty="0">
                <a:solidFill>
                  <a:srgbClr val="CFE8E1"/>
                </a:solidFill>
                <a:latin typeface="Consolas" pitchFamily="34" charset="0"/>
                <a:ea typeface="Consolas" pitchFamily="34" charset="-122"/>
                <a:cs typeface="Consolas" pitchFamily="34" charset="-120"/>
              </a:rPr>
              <a:t>        self.vel = vel     # de INSTANCIA</a:t>
            </a:r>
            <a:endParaRPr lang="en-US" sz="950" dirty="0"/>
          </a:p>
          <a:p>
            <a:pPr indent="0" marL="0">
              <a:lnSpc>
                <a:spcPct val="105000"/>
              </a:lnSpc>
              <a:buNone/>
            </a:pPr>
            <a:endParaRPr lang="en-US" sz="950" dirty="0"/>
          </a:p>
          <a:p>
            <a:pPr indent="0" marL="0">
              <a:lnSpc>
                <a:spcPct val="105000"/>
              </a:lnSpc>
              <a:buNone/>
            </a:pPr>
            <a:r>
              <a:rPr lang="en-US" sz="950" dirty="0">
                <a:solidFill>
                  <a:srgbClr val="CFE8E1"/>
                </a:solidFill>
                <a:latin typeface="Consolas" pitchFamily="34" charset="0"/>
                <a:ea typeface="Consolas" pitchFamily="34" charset="-122"/>
                <a:cs typeface="Consolas" pitchFamily="34" charset="-120"/>
              </a:rPr>
              <a:t>moto1 = Moto(200)</a:t>
            </a:r>
            <a:endParaRPr lang="en-US" sz="950" dirty="0"/>
          </a:p>
          <a:p>
            <a:pPr indent="0" marL="0">
              <a:lnSpc>
                <a:spcPct val="105000"/>
              </a:lnSpc>
              <a:buNone/>
            </a:pPr>
            <a:r>
              <a:rPr lang="en-US" sz="950" dirty="0">
                <a:solidFill>
                  <a:srgbClr val="CFE8E1"/>
                </a:solidFill>
                <a:latin typeface="Consolas" pitchFamily="34" charset="0"/>
                <a:ea typeface="Consolas" pitchFamily="34" charset="-122"/>
                <a:cs typeface="Consolas" pitchFamily="34" charset="-120"/>
              </a:rPr>
              <a:t>moto1.atributo_clase   # 150 (comun)</a:t>
            </a:r>
            <a:endParaRPr lang="en-US" sz="950" dirty="0"/>
          </a:p>
        </p:txBody>
      </p:sp>
      <p:sp>
        <p:nvSpPr>
          <p:cNvPr id="11" name="Text 9"/>
          <p:cNvSpPr/>
          <p:nvPr/>
        </p:nvSpPr>
        <p:spPr>
          <a:xfrm>
            <a:off x="457200" y="4828032"/>
            <a:ext cx="5943600" cy="228600"/>
          </a:xfrm>
          <a:prstGeom prst="rect">
            <a:avLst/>
          </a:prstGeom>
          <a:noFill/>
          <a:ln/>
        </p:spPr>
        <p:txBody>
          <a:bodyPr wrap="square" rtlCol="0" anchor="ctr"/>
          <a:lstStyle/>
          <a:p>
            <a:pPr indent="0" marL="0">
              <a:buNone/>
            </a:pPr>
            <a:r>
              <a:rPr lang="en-US" sz="800" dirty="0">
                <a:solidFill>
                  <a:srgbClr val="6B7B8C"/>
                </a:solidFill>
                <a:latin typeface="Calibri" pitchFamily="34" charset="0"/>
                <a:ea typeface="Calibri" pitchFamily="34" charset="-122"/>
                <a:cs typeface="Calibri" pitchFamily="34" charset="-120"/>
              </a:rPr>
              <a:t>POO en Python · Parte práctica · Semana 2 · MCDI500</a:t>
            </a:r>
            <a:endParaRPr lang="en-US" sz="800" dirty="0"/>
          </a:p>
        </p:txBody>
      </p:sp>
      <p:sp>
        <p:nvSpPr>
          <p:cNvPr id="12" name="Text 10"/>
          <p:cNvSpPr/>
          <p:nvPr/>
        </p:nvSpPr>
        <p:spPr>
          <a:xfrm>
            <a:off x="8321040" y="4828032"/>
            <a:ext cx="365760" cy="228600"/>
          </a:xfrm>
          <a:prstGeom prst="rect">
            <a:avLst/>
          </a:prstGeom>
          <a:noFill/>
          <a:ln/>
        </p:spPr>
        <p:txBody>
          <a:bodyPr wrap="square" rtlCol="0" anchor="ctr"/>
          <a:lstStyle/>
          <a:p>
            <a:pPr algn="r" indent="0" marL="0">
              <a:buNone/>
            </a:pPr>
            <a:r>
              <a:rPr lang="en-US" sz="900" dirty="0">
                <a:solidFill>
                  <a:srgbClr val="6B7B8C"/>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20624"/>
            <a:ext cx="146304" cy="146304"/>
          </a:xfrm>
          <a:prstGeom prst="rect">
            <a:avLst/>
          </a:prstGeom>
          <a:solidFill>
            <a:srgbClr val="13A48A"/>
          </a:solidFill>
          <a:ln/>
        </p:spPr>
      </p:sp>
      <p:sp>
        <p:nvSpPr>
          <p:cNvPr id="3" name="Text 1"/>
          <p:cNvSpPr/>
          <p:nvPr/>
        </p:nvSpPr>
        <p:spPr>
          <a:xfrm>
            <a:off x="676656" y="365760"/>
            <a:ext cx="7955280" cy="274320"/>
          </a:xfrm>
          <a:prstGeom prst="rect">
            <a:avLst/>
          </a:prstGeom>
          <a:noFill/>
          <a:ln/>
        </p:spPr>
        <p:txBody>
          <a:bodyPr wrap="square" lIns="0" tIns="0" rIns="0" bIns="0" rtlCol="0" anchor="ctr"/>
          <a:lstStyle/>
          <a:p>
            <a:pPr indent="0" marL="0">
              <a:buNone/>
            </a:pPr>
            <a:r>
              <a:rPr lang="en-US" sz="1100" b="1" spc="200" kern="0" dirty="0">
                <a:solidFill>
                  <a:srgbClr val="0E7E69"/>
                </a:solidFill>
                <a:latin typeface="Calibri" pitchFamily="34" charset="0"/>
                <a:ea typeface="Calibri" pitchFamily="34" charset="-122"/>
                <a:cs typeface="Calibri" pitchFamily="34" charset="-120"/>
              </a:rPr>
              <a:t>II. POO</a:t>
            </a:r>
            <a:endParaRPr lang="en-US" sz="1100" dirty="0"/>
          </a:p>
        </p:txBody>
      </p:sp>
      <p:sp>
        <p:nvSpPr>
          <p:cNvPr id="4" name="Text 2"/>
          <p:cNvSpPr/>
          <p:nvPr/>
        </p:nvSpPr>
        <p:spPr>
          <a:xfrm>
            <a:off x="457200" y="658368"/>
            <a:ext cx="8229600" cy="640080"/>
          </a:xfrm>
          <a:prstGeom prst="rect">
            <a:avLst/>
          </a:prstGeom>
          <a:noFill/>
          <a:ln/>
        </p:spPr>
        <p:txBody>
          <a:bodyPr wrap="square" lIns="0" tIns="0" rIns="0" bIns="0" rtlCol="0" anchor="ctr"/>
          <a:lstStyle/>
          <a:p>
            <a:pPr indent="0" marL="0">
              <a:buNone/>
            </a:pPr>
            <a:r>
              <a:rPr lang="en-US" sz="2600" b="1" dirty="0">
                <a:solidFill>
                  <a:srgbClr val="16263A"/>
                </a:solidFill>
                <a:latin typeface="Trebuchet MS" pitchFamily="34" charset="0"/>
                <a:ea typeface="Trebuchet MS" pitchFamily="34" charset="-122"/>
                <a:cs typeface="Trebuchet MS" pitchFamily="34" charset="-120"/>
              </a:rPr>
              <a:t>El constructor __init__()</a:t>
            </a:r>
            <a:endParaRPr lang="en-US" sz="2600" dirty="0"/>
          </a:p>
        </p:txBody>
      </p:sp>
      <p:sp>
        <p:nvSpPr>
          <p:cNvPr id="5" name="Shape 3"/>
          <p:cNvSpPr/>
          <p:nvPr/>
        </p:nvSpPr>
        <p:spPr>
          <a:xfrm>
            <a:off x="457200" y="1554480"/>
            <a:ext cx="4023360" cy="2834640"/>
          </a:xfrm>
          <a:prstGeom prst="rect">
            <a:avLst/>
          </a:prstGeom>
          <a:solidFill>
            <a:srgbClr val="FFFFFF"/>
          </a:solidFill>
          <a:ln w="12700">
            <a:solidFill>
              <a:srgbClr val="D8E0E6"/>
            </a:solidFill>
            <a:prstDash val="solid"/>
          </a:ln>
          <a:effectLst>
            <a:outerShdw sx="100000" sy="100000" kx="0" ky="0" algn="bl" rotWithShape="0" blurRad="88900" dist="38100" dir="8100000">
              <a:srgbClr val="000000">
                <a:alpha val="13000"/>
              </a:srgbClr>
            </a:outerShdw>
          </a:effectLst>
        </p:spPr>
      </p:sp>
      <p:sp>
        <p:nvSpPr>
          <p:cNvPr id="6" name="Shape 4"/>
          <p:cNvSpPr/>
          <p:nvPr/>
        </p:nvSpPr>
        <p:spPr>
          <a:xfrm>
            <a:off x="457200" y="1554480"/>
            <a:ext cx="64008" cy="2834640"/>
          </a:xfrm>
          <a:prstGeom prst="rect">
            <a:avLst/>
          </a:prstGeom>
          <a:solidFill>
            <a:srgbClr val="E0654A"/>
          </a:solidFill>
          <a:ln/>
        </p:spPr>
      </p:sp>
      <p:sp>
        <p:nvSpPr>
          <p:cNvPr id="7" name="Text 5"/>
          <p:cNvSpPr/>
          <p:nvPr/>
        </p:nvSpPr>
        <p:spPr>
          <a:xfrm>
            <a:off x="713232" y="1783080"/>
            <a:ext cx="3611880" cy="914400"/>
          </a:xfrm>
          <a:prstGeom prst="rect">
            <a:avLst/>
          </a:prstGeom>
          <a:noFill/>
          <a:ln/>
        </p:spPr>
        <p:txBody>
          <a:bodyPr wrap="square" rtlCol="0" anchor="t"/>
          <a:lstStyle/>
          <a:p>
            <a:pPr indent="0" marL="0">
              <a:lnSpc>
                <a:spcPct val="106000"/>
              </a:lnSpc>
              <a:buNone/>
            </a:pPr>
            <a:r>
              <a:rPr lang="en-US" sz="1300" dirty="0">
                <a:solidFill>
                  <a:srgbClr val="3E5C76"/>
                </a:solidFill>
                <a:latin typeface="Calibri" pitchFamily="34" charset="0"/>
                <a:ea typeface="Calibri" pitchFamily="34" charset="-122"/>
                <a:cs typeface="Calibri" pitchFamily="34" charset="-120"/>
              </a:rPr>
              <a:t>Python ejecuta __init__() automáticamente al crear cada objeto. Sirve para inicializar los atributos de instancia.</a:t>
            </a:r>
            <a:endParaRPr lang="en-US" sz="1300" dirty="0"/>
          </a:p>
        </p:txBody>
      </p:sp>
      <p:sp>
        <p:nvSpPr>
          <p:cNvPr id="8" name="Text 6"/>
          <p:cNvSpPr/>
          <p:nvPr/>
        </p:nvSpPr>
        <p:spPr>
          <a:xfrm>
            <a:off x="749808" y="2606040"/>
            <a:ext cx="3611880" cy="1463040"/>
          </a:xfrm>
          <a:prstGeom prst="rect">
            <a:avLst/>
          </a:prstGeom>
          <a:noFill/>
          <a:ln/>
        </p:spPr>
        <p:txBody>
          <a:bodyPr wrap="square" rtlCol="0" anchor="t"/>
          <a:lstStyle/>
          <a:p>
            <a:pPr marL="342900" indent="-342900">
              <a:lnSpc>
                <a:spcPct val="103000"/>
              </a:lnSpc>
              <a:spcAft>
                <a:spcPts val="600"/>
              </a:spcAft>
              <a:buSzPct val="100000"/>
              <a:buChar char="•"/>
            </a:pPr>
            <a:r>
              <a:rPr lang="en-US" sz="1200" dirty="0">
                <a:solidFill>
                  <a:srgbClr val="3E5C76"/>
                </a:solidFill>
                <a:latin typeface="Calibri" pitchFamily="34" charset="0"/>
                <a:ea typeface="Calibri" pitchFamily="34" charset="-122"/>
                <a:cs typeface="Calibri" pitchFamily="34" charset="-120"/>
              </a:rPr>
              <a:t>Lleva doble guion bajo (método especial).</a:t>
            </a:r>
            <a:endParaRPr lang="en-US" sz="1200" dirty="0"/>
          </a:p>
          <a:p>
            <a:pPr marL="342900" indent="-342900">
              <a:lnSpc>
                <a:spcPct val="103000"/>
              </a:lnSpc>
              <a:spcAft>
                <a:spcPts val="600"/>
              </a:spcAft>
              <a:buSzPct val="100000"/>
              <a:buChar char="•"/>
            </a:pPr>
            <a:r>
              <a:rPr lang="en-US" sz="1200" dirty="0">
                <a:solidFill>
                  <a:srgbClr val="3E5C76"/>
                </a:solidFill>
                <a:latin typeface="Calibri" pitchFamily="34" charset="0"/>
                <a:ea typeface="Calibri" pitchFamily="34" charset="-122"/>
                <a:cs typeface="Calibri" pitchFamily="34" charset="-120"/>
              </a:rPr>
              <a:t>Cada objeto nace con su propio estado.</a:t>
            </a:r>
            <a:endParaRPr lang="en-US" sz="1200" dirty="0"/>
          </a:p>
          <a:p>
            <a:pPr marL="342900" indent="-342900">
              <a:lnSpc>
                <a:spcPct val="103000"/>
              </a:lnSpc>
              <a:spcAft>
                <a:spcPts val="600"/>
              </a:spcAft>
              <a:buSzPct val="100000"/>
              <a:buChar char="•"/>
            </a:pPr>
            <a:r>
              <a:rPr lang="en-US" sz="1200" dirty="0">
                <a:solidFill>
                  <a:srgbClr val="3E5C76"/>
                </a:solidFill>
                <a:latin typeface="Calibri" pitchFamily="34" charset="0"/>
                <a:ea typeface="Calibri" pitchFamily="34" charset="-122"/>
                <a:cs typeface="Calibri" pitchFamily="34" charset="-120"/>
              </a:rPr>
              <a:t>moto1 y moto2 son independientes.</a:t>
            </a:r>
            <a:endParaRPr lang="en-US" sz="1200" dirty="0"/>
          </a:p>
        </p:txBody>
      </p:sp>
      <p:sp>
        <p:nvSpPr>
          <p:cNvPr id="9" name="Shape 7"/>
          <p:cNvSpPr/>
          <p:nvPr/>
        </p:nvSpPr>
        <p:spPr>
          <a:xfrm>
            <a:off x="4800600" y="1554480"/>
            <a:ext cx="3886200" cy="2834640"/>
          </a:xfrm>
          <a:prstGeom prst="rect">
            <a:avLst/>
          </a:prstGeom>
          <a:solidFill>
            <a:srgbClr val="0F2233"/>
          </a:solidFill>
          <a:ln/>
          <a:effectLst>
            <a:outerShdw sx="100000" sy="100000" kx="0" ky="0" algn="bl" rotWithShape="0" blurRad="88900" dist="38100" dir="8100000">
              <a:srgbClr val="000000">
                <a:alpha val="13000"/>
              </a:srgbClr>
            </a:outerShdw>
          </a:effectLst>
        </p:spPr>
      </p:sp>
      <p:sp>
        <p:nvSpPr>
          <p:cNvPr id="10" name="Shape 8"/>
          <p:cNvSpPr/>
          <p:nvPr/>
        </p:nvSpPr>
        <p:spPr>
          <a:xfrm>
            <a:off x="4800600" y="1554480"/>
            <a:ext cx="64008" cy="2834640"/>
          </a:xfrm>
          <a:prstGeom prst="rect">
            <a:avLst/>
          </a:prstGeom>
          <a:solidFill>
            <a:srgbClr val="13A48A"/>
          </a:solidFill>
          <a:ln/>
        </p:spPr>
      </p:sp>
      <p:sp>
        <p:nvSpPr>
          <p:cNvPr id="11" name="Text 9"/>
          <p:cNvSpPr/>
          <p:nvPr/>
        </p:nvSpPr>
        <p:spPr>
          <a:xfrm>
            <a:off x="4983480" y="1664208"/>
            <a:ext cx="3566160" cy="2615184"/>
          </a:xfrm>
          <a:prstGeom prst="rect">
            <a:avLst/>
          </a:prstGeom>
          <a:noFill/>
          <a:ln/>
        </p:spPr>
        <p:txBody>
          <a:bodyPr wrap="square" lIns="0" tIns="0" rIns="0" bIns="0" rtlCol="0" anchor="t"/>
          <a:lstStyle/>
          <a:p>
            <a:pPr indent="0" marL="0">
              <a:lnSpc>
                <a:spcPct val="105000"/>
              </a:lnSpc>
              <a:buNone/>
            </a:pPr>
            <a:r>
              <a:rPr lang="en-US" sz="900" dirty="0">
                <a:solidFill>
                  <a:srgbClr val="CFE8E1"/>
                </a:solidFill>
                <a:latin typeface="Consolas" pitchFamily="34" charset="0"/>
                <a:ea typeface="Consolas" pitchFamily="34" charset="-122"/>
                <a:cs typeface="Consolas" pitchFamily="34" charset="-120"/>
              </a:rPr>
              <a:t>class Moto:</a:t>
            </a:r>
            <a:endParaRPr lang="en-US" sz="900" dirty="0"/>
          </a:p>
          <a:p>
            <a:pPr indent="0" marL="0">
              <a:lnSpc>
                <a:spcPct val="105000"/>
              </a:lnSpc>
              <a:buNone/>
            </a:pPr>
            <a:r>
              <a:rPr lang="en-US" sz="900" dirty="0">
                <a:solidFill>
                  <a:srgbClr val="CFE8E1"/>
                </a:solidFill>
                <a:latin typeface="Consolas" pitchFamily="34" charset="0"/>
                <a:ea typeface="Consolas" pitchFamily="34" charset="-122"/>
                <a:cs typeface="Consolas" pitchFamily="34" charset="-120"/>
              </a:rPr>
              <a:t>    def __init__(self, vel_max, consumo):</a:t>
            </a:r>
            <a:endParaRPr lang="en-US" sz="900" dirty="0"/>
          </a:p>
          <a:p>
            <a:pPr indent="0" marL="0">
              <a:lnSpc>
                <a:spcPct val="105000"/>
              </a:lnSpc>
              <a:buNone/>
            </a:pPr>
            <a:r>
              <a:rPr lang="en-US" sz="900" dirty="0">
                <a:solidFill>
                  <a:srgbClr val="CFE8E1"/>
                </a:solidFill>
                <a:latin typeface="Consolas" pitchFamily="34" charset="0"/>
                <a:ea typeface="Consolas" pitchFamily="34" charset="-122"/>
                <a:cs typeface="Consolas" pitchFamily="34" charset="-120"/>
              </a:rPr>
              <a:t>        self.vel_max = vel_max</a:t>
            </a:r>
            <a:endParaRPr lang="en-US" sz="900" dirty="0"/>
          </a:p>
          <a:p>
            <a:pPr indent="0" marL="0">
              <a:lnSpc>
                <a:spcPct val="105000"/>
              </a:lnSpc>
              <a:buNone/>
            </a:pPr>
            <a:r>
              <a:rPr lang="en-US" sz="900" dirty="0">
                <a:solidFill>
                  <a:srgbClr val="CFE8E1"/>
                </a:solidFill>
                <a:latin typeface="Consolas" pitchFamily="34" charset="0"/>
                <a:ea typeface="Consolas" pitchFamily="34" charset="-122"/>
                <a:cs typeface="Consolas" pitchFamily="34" charset="-120"/>
              </a:rPr>
              <a:t>        self.consumo = consumo</a:t>
            </a:r>
            <a:endParaRPr lang="en-US" sz="900" dirty="0"/>
          </a:p>
          <a:p>
            <a:pPr indent="0" marL="0">
              <a:lnSpc>
                <a:spcPct val="105000"/>
              </a:lnSpc>
              <a:buNone/>
            </a:pPr>
            <a:endParaRPr lang="en-US" sz="900" dirty="0"/>
          </a:p>
          <a:p>
            <a:pPr indent="0" marL="0">
              <a:lnSpc>
                <a:spcPct val="105000"/>
              </a:lnSpc>
              <a:buNone/>
            </a:pPr>
            <a:r>
              <a:rPr lang="en-US" sz="900" dirty="0">
                <a:solidFill>
                  <a:srgbClr val="CFE8E1"/>
                </a:solidFill>
                <a:latin typeface="Consolas" pitchFamily="34" charset="0"/>
                <a:ea typeface="Consolas" pitchFamily="34" charset="-122"/>
                <a:cs typeface="Consolas" pitchFamily="34" charset="-120"/>
              </a:rPr>
              <a:t>moto1 = Moto(200, 7)</a:t>
            </a:r>
            <a:endParaRPr lang="en-US" sz="900" dirty="0"/>
          </a:p>
          <a:p>
            <a:pPr indent="0" marL="0">
              <a:lnSpc>
                <a:spcPct val="105000"/>
              </a:lnSpc>
              <a:buNone/>
            </a:pPr>
            <a:r>
              <a:rPr lang="en-US" sz="900" dirty="0">
                <a:solidFill>
                  <a:srgbClr val="CFE8E1"/>
                </a:solidFill>
                <a:latin typeface="Consolas" pitchFamily="34" charset="0"/>
                <a:ea typeface="Consolas" pitchFamily="34" charset="-122"/>
                <a:cs typeface="Consolas" pitchFamily="34" charset="-120"/>
              </a:rPr>
              <a:t>moto2 = Moto(250, 10)</a:t>
            </a:r>
            <a:endParaRPr lang="en-US" sz="900" dirty="0"/>
          </a:p>
        </p:txBody>
      </p:sp>
      <p:sp>
        <p:nvSpPr>
          <p:cNvPr id="12" name="Text 10"/>
          <p:cNvSpPr/>
          <p:nvPr/>
        </p:nvSpPr>
        <p:spPr>
          <a:xfrm>
            <a:off x="457200" y="4828032"/>
            <a:ext cx="5943600" cy="228600"/>
          </a:xfrm>
          <a:prstGeom prst="rect">
            <a:avLst/>
          </a:prstGeom>
          <a:noFill/>
          <a:ln/>
        </p:spPr>
        <p:txBody>
          <a:bodyPr wrap="square" rtlCol="0" anchor="ctr"/>
          <a:lstStyle/>
          <a:p>
            <a:pPr indent="0" marL="0">
              <a:buNone/>
            </a:pPr>
            <a:r>
              <a:rPr lang="en-US" sz="800" dirty="0">
                <a:solidFill>
                  <a:srgbClr val="6B7B8C"/>
                </a:solidFill>
                <a:latin typeface="Calibri" pitchFamily="34" charset="0"/>
                <a:ea typeface="Calibri" pitchFamily="34" charset="-122"/>
                <a:cs typeface="Calibri" pitchFamily="34" charset="-120"/>
              </a:rPr>
              <a:t>POO en Python · Parte práctica · Semana 2 · MCDI500</a:t>
            </a:r>
            <a:endParaRPr lang="en-US" sz="800" dirty="0"/>
          </a:p>
        </p:txBody>
      </p:sp>
      <p:sp>
        <p:nvSpPr>
          <p:cNvPr id="13" name="Text 11"/>
          <p:cNvSpPr/>
          <p:nvPr/>
        </p:nvSpPr>
        <p:spPr>
          <a:xfrm>
            <a:off x="8321040" y="4828032"/>
            <a:ext cx="365760" cy="228600"/>
          </a:xfrm>
          <a:prstGeom prst="rect">
            <a:avLst/>
          </a:prstGeom>
          <a:noFill/>
          <a:ln/>
        </p:spPr>
        <p:txBody>
          <a:bodyPr wrap="square" rtlCol="0" anchor="ctr"/>
          <a:lstStyle/>
          <a:p>
            <a:pPr algn="r" indent="0" marL="0">
              <a:buNone/>
            </a:pPr>
            <a:r>
              <a:rPr lang="en-US" sz="900" dirty="0">
                <a:solidFill>
                  <a:srgbClr val="6B7B8C"/>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20624"/>
            <a:ext cx="146304" cy="146304"/>
          </a:xfrm>
          <a:prstGeom prst="rect">
            <a:avLst/>
          </a:prstGeom>
          <a:solidFill>
            <a:srgbClr val="13A48A"/>
          </a:solidFill>
          <a:ln/>
        </p:spPr>
      </p:sp>
      <p:sp>
        <p:nvSpPr>
          <p:cNvPr id="3" name="Text 1"/>
          <p:cNvSpPr/>
          <p:nvPr/>
        </p:nvSpPr>
        <p:spPr>
          <a:xfrm>
            <a:off x="676656" y="365760"/>
            <a:ext cx="7955280" cy="274320"/>
          </a:xfrm>
          <a:prstGeom prst="rect">
            <a:avLst/>
          </a:prstGeom>
          <a:noFill/>
          <a:ln/>
        </p:spPr>
        <p:txBody>
          <a:bodyPr wrap="square" lIns="0" tIns="0" rIns="0" bIns="0" rtlCol="0" anchor="ctr"/>
          <a:lstStyle/>
          <a:p>
            <a:pPr indent="0" marL="0">
              <a:buNone/>
            </a:pPr>
            <a:r>
              <a:rPr lang="en-US" sz="1100" b="1" spc="200" kern="0" dirty="0">
                <a:solidFill>
                  <a:srgbClr val="0E7E69"/>
                </a:solidFill>
                <a:latin typeface="Calibri" pitchFamily="34" charset="0"/>
                <a:ea typeface="Calibri" pitchFamily="34" charset="-122"/>
                <a:cs typeface="Calibri" pitchFamily="34" charset="-120"/>
              </a:rPr>
              <a:t>II. POO</a:t>
            </a:r>
            <a:endParaRPr lang="en-US" sz="1100" dirty="0"/>
          </a:p>
        </p:txBody>
      </p:sp>
      <p:sp>
        <p:nvSpPr>
          <p:cNvPr id="4" name="Text 2"/>
          <p:cNvSpPr/>
          <p:nvPr/>
        </p:nvSpPr>
        <p:spPr>
          <a:xfrm>
            <a:off x="457200" y="658368"/>
            <a:ext cx="8229600" cy="640080"/>
          </a:xfrm>
          <a:prstGeom prst="rect">
            <a:avLst/>
          </a:prstGeom>
          <a:noFill/>
          <a:ln/>
        </p:spPr>
        <p:txBody>
          <a:bodyPr wrap="square" lIns="0" tIns="0" rIns="0" bIns="0" rtlCol="0" anchor="ctr"/>
          <a:lstStyle/>
          <a:p>
            <a:pPr indent="0" marL="0">
              <a:buNone/>
            </a:pPr>
            <a:r>
              <a:rPr lang="en-US" sz="2600" b="1" dirty="0">
                <a:solidFill>
                  <a:srgbClr val="16263A"/>
                </a:solidFill>
                <a:latin typeface="Trebuchet MS" pitchFamily="34" charset="0"/>
                <a:ea typeface="Trebuchet MS" pitchFamily="34" charset="-122"/>
                <a:cs typeface="Trebuchet MS" pitchFamily="34" charset="-120"/>
              </a:rPr>
              <a:t>Herencia: reutilizar y especializar</a:t>
            </a:r>
            <a:endParaRPr lang="en-US" sz="2600" dirty="0"/>
          </a:p>
        </p:txBody>
      </p:sp>
      <p:sp>
        <p:nvSpPr>
          <p:cNvPr id="5" name="Shape 3"/>
          <p:cNvSpPr/>
          <p:nvPr/>
        </p:nvSpPr>
        <p:spPr>
          <a:xfrm>
            <a:off x="457200" y="1554480"/>
            <a:ext cx="4023360" cy="2834640"/>
          </a:xfrm>
          <a:prstGeom prst="rect">
            <a:avLst/>
          </a:prstGeom>
          <a:solidFill>
            <a:srgbClr val="FFFFFF"/>
          </a:solidFill>
          <a:ln w="12700">
            <a:solidFill>
              <a:srgbClr val="D8E0E6"/>
            </a:solidFill>
            <a:prstDash val="solid"/>
          </a:ln>
          <a:effectLst>
            <a:outerShdw sx="100000" sy="100000" kx="0" ky="0" algn="bl" rotWithShape="0" blurRad="88900" dist="38100" dir="8100000">
              <a:srgbClr val="000000">
                <a:alpha val="13000"/>
              </a:srgbClr>
            </a:outerShdw>
          </a:effectLst>
        </p:spPr>
      </p:sp>
      <p:sp>
        <p:nvSpPr>
          <p:cNvPr id="6" name="Shape 4"/>
          <p:cNvSpPr/>
          <p:nvPr/>
        </p:nvSpPr>
        <p:spPr>
          <a:xfrm>
            <a:off x="457200" y="1554480"/>
            <a:ext cx="64008" cy="2834640"/>
          </a:xfrm>
          <a:prstGeom prst="rect">
            <a:avLst/>
          </a:prstGeom>
          <a:solidFill>
            <a:srgbClr val="13A48A"/>
          </a:solidFill>
          <a:ln/>
        </p:spPr>
      </p:sp>
      <p:sp>
        <p:nvSpPr>
          <p:cNvPr id="7" name="Text 5"/>
          <p:cNvSpPr/>
          <p:nvPr/>
        </p:nvSpPr>
        <p:spPr>
          <a:xfrm>
            <a:off x="713232" y="1783080"/>
            <a:ext cx="3611880" cy="914400"/>
          </a:xfrm>
          <a:prstGeom prst="rect">
            <a:avLst/>
          </a:prstGeom>
          <a:noFill/>
          <a:ln/>
        </p:spPr>
        <p:txBody>
          <a:bodyPr wrap="square" rtlCol="0" anchor="t"/>
          <a:lstStyle/>
          <a:p>
            <a:pPr indent="0" marL="0">
              <a:lnSpc>
                <a:spcPct val="106000"/>
              </a:lnSpc>
              <a:buNone/>
            </a:pPr>
            <a:r>
              <a:rPr lang="en-US" sz="1300" dirty="0">
                <a:solidFill>
                  <a:srgbClr val="3E5C76"/>
                </a:solidFill>
                <a:latin typeface="Calibri" pitchFamily="34" charset="0"/>
                <a:ea typeface="Calibri" pitchFamily="34" charset="-122"/>
                <a:cs typeface="Calibri" pitchFamily="34" charset="-120"/>
              </a:rPr>
              <a:t>Una clase hija hereda atributos y métodos de una clase base (padre). En la base queda lo común; en las hijas, lo específico.</a:t>
            </a:r>
            <a:endParaRPr lang="en-US" sz="1300" dirty="0"/>
          </a:p>
        </p:txBody>
      </p:sp>
      <p:sp>
        <p:nvSpPr>
          <p:cNvPr id="8" name="Text 6"/>
          <p:cNvSpPr/>
          <p:nvPr/>
        </p:nvSpPr>
        <p:spPr>
          <a:xfrm>
            <a:off x="731520" y="2697480"/>
            <a:ext cx="3611880" cy="1280160"/>
          </a:xfrm>
          <a:prstGeom prst="rect">
            <a:avLst/>
          </a:prstGeom>
          <a:noFill/>
          <a:ln/>
        </p:spPr>
        <p:txBody>
          <a:bodyPr wrap="square" rtlCol="0" anchor="t"/>
          <a:lstStyle/>
          <a:p>
            <a:pPr indent="0" marL="0">
              <a:lnSpc>
                <a:spcPct val="105000"/>
              </a:lnSpc>
              <a:buNone/>
            </a:pPr>
            <a:r>
              <a:rPr lang="en-US" sz="1200" b="1" dirty="0">
                <a:solidFill>
                  <a:srgbClr val="0E7E69"/>
                </a:solidFill>
                <a:latin typeface="Consolas" pitchFamily="34" charset="0"/>
                <a:ea typeface="Consolas" pitchFamily="34" charset="-122"/>
                <a:cs typeface="Consolas" pitchFamily="34" charset="-120"/>
              </a:rPr>
              <a:t>super().__init__(...) </a:t>
            </a:r>
            <a:pPr indent="0" marL="0">
              <a:lnSpc>
                <a:spcPct val="105000"/>
              </a:lnSpc>
              <a:buNone/>
            </a:pPr>
            <a:r>
              <a:rPr lang="en-US" sz="1250" dirty="0">
                <a:solidFill>
                  <a:srgbClr val="3E5C76"/>
                </a:solidFill>
                <a:latin typeface="Calibri" pitchFamily="34" charset="0"/>
                <a:ea typeface="Calibri" pitchFamily="34" charset="-122"/>
                <a:cs typeface="Calibri" pitchFamily="34" charset="-120"/>
              </a:rPr>
              <a:t>invoca el constructor del padre para no repetir código.</a:t>
            </a:r>
            <a:endParaRPr lang="en-US" sz="1200" dirty="0"/>
          </a:p>
        </p:txBody>
      </p:sp>
      <p:sp>
        <p:nvSpPr>
          <p:cNvPr id="9" name="Shape 7"/>
          <p:cNvSpPr/>
          <p:nvPr/>
        </p:nvSpPr>
        <p:spPr>
          <a:xfrm>
            <a:off x="4800600" y="1554480"/>
            <a:ext cx="3886200" cy="2834640"/>
          </a:xfrm>
          <a:prstGeom prst="rect">
            <a:avLst/>
          </a:prstGeom>
          <a:solidFill>
            <a:srgbClr val="0F2233"/>
          </a:solidFill>
          <a:ln/>
          <a:effectLst>
            <a:outerShdw sx="100000" sy="100000" kx="0" ky="0" algn="bl" rotWithShape="0" blurRad="88900" dist="38100" dir="8100000">
              <a:srgbClr val="000000">
                <a:alpha val="13000"/>
              </a:srgbClr>
            </a:outerShdw>
          </a:effectLst>
        </p:spPr>
      </p:sp>
      <p:sp>
        <p:nvSpPr>
          <p:cNvPr id="10" name="Shape 8"/>
          <p:cNvSpPr/>
          <p:nvPr/>
        </p:nvSpPr>
        <p:spPr>
          <a:xfrm>
            <a:off x="4800600" y="1554480"/>
            <a:ext cx="64008" cy="2834640"/>
          </a:xfrm>
          <a:prstGeom prst="rect">
            <a:avLst/>
          </a:prstGeom>
          <a:solidFill>
            <a:srgbClr val="13A48A"/>
          </a:solidFill>
          <a:ln/>
        </p:spPr>
      </p:sp>
      <p:sp>
        <p:nvSpPr>
          <p:cNvPr id="11" name="Text 9"/>
          <p:cNvSpPr/>
          <p:nvPr/>
        </p:nvSpPr>
        <p:spPr>
          <a:xfrm>
            <a:off x="4983480" y="1664208"/>
            <a:ext cx="3566160" cy="2615184"/>
          </a:xfrm>
          <a:prstGeom prst="rect">
            <a:avLst/>
          </a:prstGeom>
          <a:noFill/>
          <a:ln/>
        </p:spPr>
        <p:txBody>
          <a:bodyPr wrap="square" lIns="0" tIns="0" rIns="0" bIns="0" rtlCol="0" anchor="t"/>
          <a:lstStyle/>
          <a:p>
            <a:pPr indent="0" marL="0">
              <a:lnSpc>
                <a:spcPct val="105000"/>
              </a:lnSpc>
              <a:buNone/>
            </a:pPr>
            <a:r>
              <a:rPr lang="en-US" sz="850" dirty="0">
                <a:solidFill>
                  <a:srgbClr val="CFE8E1"/>
                </a:solidFill>
                <a:latin typeface="Consolas" pitchFamily="34" charset="0"/>
                <a:ea typeface="Consolas" pitchFamily="34" charset="-122"/>
                <a:cs typeface="Consolas" pitchFamily="34" charset="-120"/>
              </a:rPr>
              <a:t>class Moto1:                  # padre</a:t>
            </a:r>
            <a:endParaRPr lang="en-US" sz="850" dirty="0"/>
          </a:p>
          <a:p>
            <a:pPr indent="0" marL="0">
              <a:lnSpc>
                <a:spcPct val="105000"/>
              </a:lnSpc>
              <a:buNone/>
            </a:pPr>
            <a:r>
              <a:rPr lang="en-US" sz="850" dirty="0">
                <a:solidFill>
                  <a:srgbClr val="CFE8E1"/>
                </a:solidFill>
                <a:latin typeface="Consolas" pitchFamily="34" charset="0"/>
                <a:ea typeface="Consolas" pitchFamily="34" charset="-122"/>
                <a:cs typeface="Consolas" pitchFamily="34" charset="-120"/>
              </a:rPr>
              <a:t>    def __init__(self, modelo, cv):</a:t>
            </a:r>
            <a:endParaRPr lang="en-US" sz="850" dirty="0"/>
          </a:p>
          <a:p>
            <a:pPr indent="0" marL="0">
              <a:lnSpc>
                <a:spcPct val="105000"/>
              </a:lnSpc>
              <a:buNone/>
            </a:pPr>
            <a:r>
              <a:rPr lang="en-US" sz="850" dirty="0">
                <a:solidFill>
                  <a:srgbClr val="CFE8E1"/>
                </a:solidFill>
                <a:latin typeface="Consolas" pitchFamily="34" charset="0"/>
                <a:ea typeface="Consolas" pitchFamily="34" charset="-122"/>
                <a:cs typeface="Consolas" pitchFamily="34" charset="-120"/>
              </a:rPr>
              <a:t>        self.modelo = modelo</a:t>
            </a:r>
            <a:endParaRPr lang="en-US" sz="850" dirty="0"/>
          </a:p>
          <a:p>
            <a:pPr indent="0" marL="0">
              <a:lnSpc>
                <a:spcPct val="105000"/>
              </a:lnSpc>
              <a:buNone/>
            </a:pPr>
            <a:r>
              <a:rPr lang="en-US" sz="850" dirty="0">
                <a:solidFill>
                  <a:srgbClr val="CFE8E1"/>
                </a:solidFill>
                <a:latin typeface="Consolas" pitchFamily="34" charset="0"/>
                <a:ea typeface="Consolas" pitchFamily="34" charset="-122"/>
                <a:cs typeface="Consolas" pitchFamily="34" charset="-120"/>
              </a:rPr>
              <a:t>        self.cv = cv</a:t>
            </a:r>
            <a:endParaRPr lang="en-US" sz="850" dirty="0"/>
          </a:p>
          <a:p>
            <a:pPr indent="0" marL="0">
              <a:lnSpc>
                <a:spcPct val="105000"/>
              </a:lnSpc>
              <a:buNone/>
            </a:pPr>
            <a:endParaRPr lang="en-US" sz="850" dirty="0"/>
          </a:p>
          <a:p>
            <a:pPr indent="0" marL="0">
              <a:lnSpc>
                <a:spcPct val="105000"/>
              </a:lnSpc>
              <a:buNone/>
            </a:pPr>
            <a:r>
              <a:rPr lang="en-US" sz="850" dirty="0">
                <a:solidFill>
                  <a:srgbClr val="CFE8E1"/>
                </a:solidFill>
                <a:latin typeface="Consolas" pitchFamily="34" charset="0"/>
                <a:ea typeface="Consolas" pitchFamily="34" charset="-122"/>
                <a:cs typeface="Consolas" pitchFamily="34" charset="-120"/>
              </a:rPr>
              <a:t>class MotoElectrica(Moto1):   # hija</a:t>
            </a:r>
            <a:endParaRPr lang="en-US" sz="850" dirty="0"/>
          </a:p>
          <a:p>
            <a:pPr indent="0" marL="0">
              <a:lnSpc>
                <a:spcPct val="105000"/>
              </a:lnSpc>
              <a:buNone/>
            </a:pPr>
            <a:r>
              <a:rPr lang="en-US" sz="850" dirty="0">
                <a:solidFill>
                  <a:srgbClr val="CFE8E1"/>
                </a:solidFill>
                <a:latin typeface="Consolas" pitchFamily="34" charset="0"/>
                <a:ea typeface="Consolas" pitchFamily="34" charset="-122"/>
                <a:cs typeface="Consolas" pitchFamily="34" charset="-120"/>
              </a:rPr>
              <a:t>    def __init__(self, modelo, cv):</a:t>
            </a:r>
            <a:endParaRPr lang="en-US" sz="850" dirty="0"/>
          </a:p>
          <a:p>
            <a:pPr indent="0" marL="0">
              <a:lnSpc>
                <a:spcPct val="105000"/>
              </a:lnSpc>
              <a:buNone/>
            </a:pPr>
            <a:r>
              <a:rPr lang="en-US" sz="850" dirty="0">
                <a:solidFill>
                  <a:srgbClr val="CFE8E1"/>
                </a:solidFill>
                <a:latin typeface="Consolas" pitchFamily="34" charset="0"/>
                <a:ea typeface="Consolas" pitchFamily="34" charset="-122"/>
                <a:cs typeface="Consolas" pitchFamily="34" charset="-120"/>
              </a:rPr>
              <a:t>        super().__init__(modelo, cv)</a:t>
            </a:r>
            <a:endParaRPr lang="en-US" sz="850" dirty="0"/>
          </a:p>
          <a:p>
            <a:pPr indent="0" marL="0">
              <a:lnSpc>
                <a:spcPct val="105000"/>
              </a:lnSpc>
              <a:buNone/>
            </a:pPr>
            <a:r>
              <a:rPr lang="en-US" sz="850" dirty="0">
                <a:solidFill>
                  <a:srgbClr val="CFE8E1"/>
                </a:solidFill>
                <a:latin typeface="Consolas" pitchFamily="34" charset="0"/>
                <a:ea typeface="Consolas" pitchFamily="34" charset="-122"/>
                <a:cs typeface="Consolas" pitchFamily="34" charset="-120"/>
              </a:rPr>
              <a:t>        self._combustible = 'KWh/100km'</a:t>
            </a:r>
            <a:endParaRPr lang="en-US" sz="850" dirty="0"/>
          </a:p>
        </p:txBody>
      </p:sp>
      <p:sp>
        <p:nvSpPr>
          <p:cNvPr id="12" name="Text 10"/>
          <p:cNvSpPr/>
          <p:nvPr/>
        </p:nvSpPr>
        <p:spPr>
          <a:xfrm>
            <a:off x="457200" y="4828032"/>
            <a:ext cx="5943600" cy="228600"/>
          </a:xfrm>
          <a:prstGeom prst="rect">
            <a:avLst/>
          </a:prstGeom>
          <a:noFill/>
          <a:ln/>
        </p:spPr>
        <p:txBody>
          <a:bodyPr wrap="square" rtlCol="0" anchor="ctr"/>
          <a:lstStyle/>
          <a:p>
            <a:pPr indent="0" marL="0">
              <a:buNone/>
            </a:pPr>
            <a:r>
              <a:rPr lang="en-US" sz="800" dirty="0">
                <a:solidFill>
                  <a:srgbClr val="6B7B8C"/>
                </a:solidFill>
                <a:latin typeface="Calibri" pitchFamily="34" charset="0"/>
                <a:ea typeface="Calibri" pitchFamily="34" charset="-122"/>
                <a:cs typeface="Calibri" pitchFamily="34" charset="-120"/>
              </a:rPr>
              <a:t>POO en Python · Parte práctica · Semana 2 · MCDI500</a:t>
            </a:r>
            <a:endParaRPr lang="en-US" sz="800" dirty="0"/>
          </a:p>
        </p:txBody>
      </p:sp>
      <p:sp>
        <p:nvSpPr>
          <p:cNvPr id="13" name="Text 11"/>
          <p:cNvSpPr/>
          <p:nvPr/>
        </p:nvSpPr>
        <p:spPr>
          <a:xfrm>
            <a:off x="8321040" y="4828032"/>
            <a:ext cx="365760" cy="228600"/>
          </a:xfrm>
          <a:prstGeom prst="rect">
            <a:avLst/>
          </a:prstGeom>
          <a:noFill/>
          <a:ln/>
        </p:spPr>
        <p:txBody>
          <a:bodyPr wrap="square" rtlCol="0" anchor="ctr"/>
          <a:lstStyle/>
          <a:p>
            <a:pPr algn="r" indent="0" marL="0">
              <a:buNone/>
            </a:pPr>
            <a:r>
              <a:rPr lang="en-US" sz="900" dirty="0">
                <a:solidFill>
                  <a:srgbClr val="6B7B8C"/>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20624"/>
            <a:ext cx="146304" cy="146304"/>
          </a:xfrm>
          <a:prstGeom prst="rect">
            <a:avLst/>
          </a:prstGeom>
          <a:solidFill>
            <a:srgbClr val="13A48A"/>
          </a:solidFill>
          <a:ln/>
        </p:spPr>
      </p:sp>
      <p:sp>
        <p:nvSpPr>
          <p:cNvPr id="3" name="Text 1"/>
          <p:cNvSpPr/>
          <p:nvPr/>
        </p:nvSpPr>
        <p:spPr>
          <a:xfrm>
            <a:off x="676656" y="365760"/>
            <a:ext cx="7955280" cy="274320"/>
          </a:xfrm>
          <a:prstGeom prst="rect">
            <a:avLst/>
          </a:prstGeom>
          <a:noFill/>
          <a:ln/>
        </p:spPr>
        <p:txBody>
          <a:bodyPr wrap="square" lIns="0" tIns="0" rIns="0" bIns="0" rtlCol="0" anchor="ctr"/>
          <a:lstStyle/>
          <a:p>
            <a:pPr indent="0" marL="0">
              <a:buNone/>
            </a:pPr>
            <a:r>
              <a:rPr lang="en-US" sz="1100" b="1" spc="200" kern="0" dirty="0">
                <a:solidFill>
                  <a:srgbClr val="0E7E69"/>
                </a:solidFill>
                <a:latin typeface="Calibri" pitchFamily="34" charset="0"/>
                <a:ea typeface="Calibri" pitchFamily="34" charset="-122"/>
                <a:cs typeface="Calibri" pitchFamily="34" charset="-120"/>
              </a:rPr>
              <a:t>II. POO</a:t>
            </a:r>
            <a:endParaRPr lang="en-US" sz="1100" dirty="0"/>
          </a:p>
        </p:txBody>
      </p:sp>
      <p:sp>
        <p:nvSpPr>
          <p:cNvPr id="4" name="Text 2"/>
          <p:cNvSpPr/>
          <p:nvPr/>
        </p:nvSpPr>
        <p:spPr>
          <a:xfrm>
            <a:off x="457200" y="658368"/>
            <a:ext cx="8229600" cy="640080"/>
          </a:xfrm>
          <a:prstGeom prst="rect">
            <a:avLst/>
          </a:prstGeom>
          <a:noFill/>
          <a:ln/>
        </p:spPr>
        <p:txBody>
          <a:bodyPr wrap="square" lIns="0" tIns="0" rIns="0" bIns="0" rtlCol="0" anchor="ctr"/>
          <a:lstStyle/>
          <a:p>
            <a:pPr indent="0" marL="0">
              <a:buNone/>
            </a:pPr>
            <a:r>
              <a:rPr lang="en-US" sz="2600" b="1" dirty="0">
                <a:solidFill>
                  <a:srgbClr val="16263A"/>
                </a:solidFill>
                <a:latin typeface="Trebuchet MS" pitchFamily="34" charset="0"/>
                <a:ea typeface="Trebuchet MS" pitchFamily="34" charset="-122"/>
                <a:cs typeface="Trebuchet MS" pitchFamily="34" charset="-120"/>
              </a:rPr>
              <a:t>Especializar y sobrescribir métodos</a:t>
            </a:r>
            <a:endParaRPr lang="en-US" sz="2600" dirty="0"/>
          </a:p>
        </p:txBody>
      </p:sp>
      <p:sp>
        <p:nvSpPr>
          <p:cNvPr id="5" name="Shape 3"/>
          <p:cNvSpPr/>
          <p:nvPr/>
        </p:nvSpPr>
        <p:spPr>
          <a:xfrm>
            <a:off x="457200" y="1554480"/>
            <a:ext cx="4023360" cy="2834640"/>
          </a:xfrm>
          <a:prstGeom prst="rect">
            <a:avLst/>
          </a:prstGeom>
          <a:solidFill>
            <a:srgbClr val="FFFFFF"/>
          </a:solidFill>
          <a:ln w="12700">
            <a:solidFill>
              <a:srgbClr val="D8E0E6"/>
            </a:solidFill>
            <a:prstDash val="solid"/>
          </a:ln>
          <a:effectLst>
            <a:outerShdw sx="100000" sy="100000" kx="0" ky="0" algn="bl" rotWithShape="0" blurRad="88900" dist="38100" dir="8100000">
              <a:srgbClr val="000000">
                <a:alpha val="13000"/>
              </a:srgbClr>
            </a:outerShdw>
          </a:effectLst>
        </p:spPr>
      </p:sp>
      <p:sp>
        <p:nvSpPr>
          <p:cNvPr id="6" name="Shape 4"/>
          <p:cNvSpPr/>
          <p:nvPr/>
        </p:nvSpPr>
        <p:spPr>
          <a:xfrm>
            <a:off x="457200" y="1554480"/>
            <a:ext cx="64008" cy="2834640"/>
          </a:xfrm>
          <a:prstGeom prst="rect">
            <a:avLst/>
          </a:prstGeom>
          <a:solidFill>
            <a:srgbClr val="E0654A"/>
          </a:solidFill>
          <a:ln/>
        </p:spPr>
      </p:sp>
      <p:sp>
        <p:nvSpPr>
          <p:cNvPr id="7" name="Text 5"/>
          <p:cNvSpPr/>
          <p:nvPr/>
        </p:nvSpPr>
        <p:spPr>
          <a:xfrm>
            <a:off x="713232" y="1828800"/>
            <a:ext cx="3611880" cy="2011680"/>
          </a:xfrm>
          <a:prstGeom prst="rect">
            <a:avLst/>
          </a:prstGeom>
          <a:noFill/>
          <a:ln/>
        </p:spPr>
        <p:txBody>
          <a:bodyPr wrap="square" rtlCol="0" anchor="t"/>
          <a:lstStyle/>
          <a:p>
            <a:pPr indent="0" marL="0">
              <a:lnSpc>
                <a:spcPct val="108000"/>
              </a:lnSpc>
              <a:buNone/>
            </a:pPr>
            <a:r>
              <a:rPr lang="en-US" sz="1300" b="1" dirty="0">
                <a:solidFill>
                  <a:srgbClr val="16263A"/>
                </a:solidFill>
                <a:latin typeface="Calibri" pitchFamily="34" charset="0"/>
                <a:ea typeface="Calibri" pitchFamily="34" charset="-122"/>
                <a:cs typeface="Calibri" pitchFamily="34" charset="-120"/>
              </a:rPr>
              <a:t>Ampliar: </a:t>
            </a:r>
            <a:pPr indent="0" marL="0">
              <a:lnSpc>
                <a:spcPct val="108000"/>
              </a:lnSpc>
              <a:buNone/>
            </a:pPr>
            <a:r>
              <a:rPr lang="en-US" sz="1300" dirty="0">
                <a:solidFill>
                  <a:srgbClr val="3E5C76"/>
                </a:solidFill>
                <a:latin typeface="Calibri" pitchFamily="34" charset="0"/>
                <a:ea typeface="Calibri" pitchFamily="34" charset="-122"/>
                <a:cs typeface="Calibri" pitchFamily="34" charset="-120"/>
              </a:rPr>
              <a:t>la hija añade atributos y métodos propios (p. ej. detalles_bateria).</a:t>
            </a:r>
            <a:endParaRPr lang="en-US" sz="1300" dirty="0"/>
          </a:p>
          <a:p>
            <a:pPr indent="0" marL="0">
              <a:lnSpc>
                <a:spcPct val="108000"/>
              </a:lnSpc>
              <a:buNone/>
            </a:pPr>
            <a:endParaRPr lang="en-US" sz="1300" dirty="0"/>
          </a:p>
          <a:p>
            <a:pPr indent="0" marL="0">
              <a:lnSpc>
                <a:spcPct val="108000"/>
              </a:lnSpc>
              <a:buNone/>
            </a:pPr>
            <a:r>
              <a:rPr lang="en-US" sz="1300" b="1" dirty="0">
                <a:solidFill>
                  <a:srgbClr val="16263A"/>
                </a:solidFill>
                <a:latin typeface="Calibri" pitchFamily="34" charset="0"/>
                <a:ea typeface="Calibri" pitchFamily="34" charset="-122"/>
                <a:cs typeface="Calibri" pitchFamily="34" charset="-120"/>
              </a:rPr>
              <a:t>Sobrescribir: </a:t>
            </a:r>
            <a:pPr indent="0" marL="0">
              <a:lnSpc>
                <a:spcPct val="108000"/>
              </a:lnSpc>
              <a:buNone/>
            </a:pPr>
            <a:r>
              <a:rPr lang="en-US" sz="1300" dirty="0">
                <a:solidFill>
                  <a:srgbClr val="3E5C76"/>
                </a:solidFill>
                <a:latin typeface="Calibri" pitchFamily="34" charset="0"/>
                <a:ea typeface="Calibri" pitchFamily="34" charset="-122"/>
                <a:cs typeface="Calibri" pitchFamily="34" charset="-120"/>
              </a:rPr>
              <a:t>redefinir un método heredado con el mismo nombre para adaptar su comportamiento.</a:t>
            </a:r>
            <a:endParaRPr lang="en-US" sz="1300" dirty="0"/>
          </a:p>
        </p:txBody>
      </p:sp>
      <p:sp>
        <p:nvSpPr>
          <p:cNvPr id="8" name="Shape 6"/>
          <p:cNvSpPr/>
          <p:nvPr/>
        </p:nvSpPr>
        <p:spPr>
          <a:xfrm>
            <a:off x="4800600" y="1554480"/>
            <a:ext cx="3886200" cy="2834640"/>
          </a:xfrm>
          <a:prstGeom prst="rect">
            <a:avLst/>
          </a:prstGeom>
          <a:solidFill>
            <a:srgbClr val="0F2233"/>
          </a:solidFill>
          <a:ln/>
          <a:effectLst>
            <a:outerShdw sx="100000" sy="100000" kx="0" ky="0" algn="bl" rotWithShape="0" blurRad="88900" dist="38100" dir="8100000">
              <a:srgbClr val="000000">
                <a:alpha val="13000"/>
              </a:srgbClr>
            </a:outerShdw>
          </a:effectLst>
        </p:spPr>
      </p:sp>
      <p:sp>
        <p:nvSpPr>
          <p:cNvPr id="9" name="Shape 7"/>
          <p:cNvSpPr/>
          <p:nvPr/>
        </p:nvSpPr>
        <p:spPr>
          <a:xfrm>
            <a:off x="4800600" y="1554480"/>
            <a:ext cx="64008" cy="2834640"/>
          </a:xfrm>
          <a:prstGeom prst="rect">
            <a:avLst/>
          </a:prstGeom>
          <a:solidFill>
            <a:srgbClr val="13A48A"/>
          </a:solidFill>
          <a:ln/>
        </p:spPr>
      </p:sp>
      <p:sp>
        <p:nvSpPr>
          <p:cNvPr id="10" name="Text 8"/>
          <p:cNvSpPr/>
          <p:nvPr/>
        </p:nvSpPr>
        <p:spPr>
          <a:xfrm>
            <a:off x="4983480" y="1664208"/>
            <a:ext cx="3566160" cy="2615184"/>
          </a:xfrm>
          <a:prstGeom prst="rect">
            <a:avLst/>
          </a:prstGeom>
          <a:noFill/>
          <a:ln/>
        </p:spPr>
        <p:txBody>
          <a:bodyPr wrap="square" lIns="0" tIns="0" rIns="0" bIns="0" rtlCol="0" anchor="t"/>
          <a:lstStyle/>
          <a:p>
            <a:pPr indent="0" marL="0">
              <a:lnSpc>
                <a:spcPct val="105000"/>
              </a:lnSpc>
              <a:buNone/>
            </a:pPr>
            <a:r>
              <a:rPr lang="en-US" sz="900" dirty="0">
                <a:solidFill>
                  <a:srgbClr val="CFE8E1"/>
                </a:solidFill>
                <a:latin typeface="Consolas" pitchFamily="34" charset="0"/>
                <a:ea typeface="Consolas" pitchFamily="34" charset="-122"/>
                <a:cs typeface="Consolas" pitchFamily="34" charset="-120"/>
              </a:rPr>
              <a:t>class MotoElectrica(Moto1):</a:t>
            </a:r>
            <a:endParaRPr lang="en-US" sz="900" dirty="0"/>
          </a:p>
          <a:p>
            <a:pPr indent="0" marL="0">
              <a:lnSpc>
                <a:spcPct val="105000"/>
              </a:lnSpc>
              <a:buNone/>
            </a:pPr>
            <a:r>
              <a:rPr lang="en-US" sz="900" dirty="0">
                <a:solidFill>
                  <a:srgbClr val="CFE8E1"/>
                </a:solidFill>
                <a:latin typeface="Consolas" pitchFamily="34" charset="0"/>
                <a:ea typeface="Consolas" pitchFamily="34" charset="-122"/>
                <a:cs typeface="Consolas" pitchFamily="34" charset="-120"/>
              </a:rPr>
              <a:t>    # metodo NUEVO (propio)</a:t>
            </a:r>
            <a:endParaRPr lang="en-US" sz="900" dirty="0"/>
          </a:p>
          <a:p>
            <a:pPr indent="0" marL="0">
              <a:lnSpc>
                <a:spcPct val="105000"/>
              </a:lnSpc>
              <a:buNone/>
            </a:pPr>
            <a:r>
              <a:rPr lang="en-US" sz="900" dirty="0">
                <a:solidFill>
                  <a:srgbClr val="CFE8E1"/>
                </a:solidFill>
                <a:latin typeface="Consolas" pitchFamily="34" charset="0"/>
                <a:ea typeface="Consolas" pitchFamily="34" charset="-122"/>
                <a:cs typeface="Consolas" pitchFamily="34" charset="-120"/>
              </a:rPr>
              <a:t>    def detalles_bateria(self):</a:t>
            </a:r>
            <a:endParaRPr lang="en-US" sz="900" dirty="0"/>
          </a:p>
          <a:p>
            <a:pPr indent="0" marL="0">
              <a:lnSpc>
                <a:spcPct val="105000"/>
              </a:lnSpc>
              <a:buNone/>
            </a:pPr>
            <a:r>
              <a:rPr lang="en-US" sz="900" dirty="0">
                <a:solidFill>
                  <a:srgbClr val="CFE8E1"/>
                </a:solidFill>
                <a:latin typeface="Consolas" pitchFamily="34" charset="0"/>
                <a:ea typeface="Consolas" pitchFamily="34" charset="-122"/>
                <a:cs typeface="Consolas" pitchFamily="34" charset="-120"/>
              </a:rPr>
              <a:t>        print('Batería:', self._cap)</a:t>
            </a:r>
            <a:endParaRPr lang="en-US" sz="900" dirty="0"/>
          </a:p>
          <a:p>
            <a:pPr indent="0" marL="0">
              <a:lnSpc>
                <a:spcPct val="105000"/>
              </a:lnSpc>
              <a:buNone/>
            </a:pPr>
            <a:endParaRPr lang="en-US" sz="900" dirty="0"/>
          </a:p>
          <a:p>
            <a:pPr indent="0" marL="0">
              <a:lnSpc>
                <a:spcPct val="105000"/>
              </a:lnSpc>
              <a:buNone/>
            </a:pPr>
            <a:r>
              <a:rPr lang="en-US" sz="900" dirty="0">
                <a:solidFill>
                  <a:srgbClr val="CFE8E1"/>
                </a:solidFill>
                <a:latin typeface="Consolas" pitchFamily="34" charset="0"/>
                <a:ea typeface="Consolas" pitchFamily="34" charset="-122"/>
                <a:cs typeface="Consolas" pitchFamily="34" charset="-120"/>
              </a:rPr>
              <a:t>    # SOBRESCRIBE al padre</a:t>
            </a:r>
            <a:endParaRPr lang="en-US" sz="900" dirty="0"/>
          </a:p>
          <a:p>
            <a:pPr indent="0" marL="0">
              <a:lnSpc>
                <a:spcPct val="105000"/>
              </a:lnSpc>
              <a:buNone/>
            </a:pPr>
            <a:r>
              <a:rPr lang="en-US" sz="900" dirty="0">
                <a:solidFill>
                  <a:srgbClr val="CFE8E1"/>
                </a:solidFill>
                <a:latin typeface="Consolas" pitchFamily="34" charset="0"/>
                <a:ea typeface="Consolas" pitchFamily="34" charset="-122"/>
                <a:cs typeface="Consolas" pitchFamily="34" charset="-120"/>
              </a:rPr>
              <a:t>    def consumo_total(self):</a:t>
            </a:r>
            <a:endParaRPr lang="en-US" sz="900" dirty="0"/>
          </a:p>
          <a:p>
            <a:pPr indent="0" marL="0">
              <a:lnSpc>
                <a:spcPct val="105000"/>
              </a:lnSpc>
              <a:buNone/>
            </a:pPr>
            <a:r>
              <a:rPr lang="en-US" sz="900" dirty="0">
                <a:solidFill>
                  <a:srgbClr val="CFE8E1"/>
                </a:solidFill>
                <a:latin typeface="Consolas" pitchFamily="34" charset="0"/>
                <a:ea typeface="Consolas" pitchFamily="34" charset="-122"/>
                <a:cs typeface="Consolas" pitchFamily="34" charset="-120"/>
              </a:rPr>
              <a:t>        ...   # nueva implementacion</a:t>
            </a:r>
            <a:endParaRPr lang="en-US" sz="900" dirty="0"/>
          </a:p>
        </p:txBody>
      </p:sp>
      <p:sp>
        <p:nvSpPr>
          <p:cNvPr id="11" name="Text 9"/>
          <p:cNvSpPr/>
          <p:nvPr/>
        </p:nvSpPr>
        <p:spPr>
          <a:xfrm>
            <a:off x="457200" y="4828032"/>
            <a:ext cx="5943600" cy="228600"/>
          </a:xfrm>
          <a:prstGeom prst="rect">
            <a:avLst/>
          </a:prstGeom>
          <a:noFill/>
          <a:ln/>
        </p:spPr>
        <p:txBody>
          <a:bodyPr wrap="square" rtlCol="0" anchor="ctr"/>
          <a:lstStyle/>
          <a:p>
            <a:pPr indent="0" marL="0">
              <a:buNone/>
            </a:pPr>
            <a:r>
              <a:rPr lang="en-US" sz="800" dirty="0">
                <a:solidFill>
                  <a:srgbClr val="6B7B8C"/>
                </a:solidFill>
                <a:latin typeface="Calibri" pitchFamily="34" charset="0"/>
                <a:ea typeface="Calibri" pitchFamily="34" charset="-122"/>
                <a:cs typeface="Calibri" pitchFamily="34" charset="-120"/>
              </a:rPr>
              <a:t>POO en Python · Parte práctica · Semana 2 · MCDI500</a:t>
            </a:r>
            <a:endParaRPr lang="en-US" sz="800" dirty="0"/>
          </a:p>
        </p:txBody>
      </p:sp>
      <p:sp>
        <p:nvSpPr>
          <p:cNvPr id="12" name="Text 10"/>
          <p:cNvSpPr/>
          <p:nvPr/>
        </p:nvSpPr>
        <p:spPr>
          <a:xfrm>
            <a:off x="8321040" y="4828032"/>
            <a:ext cx="365760" cy="228600"/>
          </a:xfrm>
          <a:prstGeom prst="rect">
            <a:avLst/>
          </a:prstGeom>
          <a:noFill/>
          <a:ln/>
        </p:spPr>
        <p:txBody>
          <a:bodyPr wrap="square" rtlCol="0" anchor="ctr"/>
          <a:lstStyle/>
          <a:p>
            <a:pPr algn="r" indent="0" marL="0">
              <a:buNone/>
            </a:pPr>
            <a:r>
              <a:rPr lang="en-US" sz="900" dirty="0">
                <a:solidFill>
                  <a:srgbClr val="6B7B8C"/>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20624"/>
            <a:ext cx="146304" cy="146304"/>
          </a:xfrm>
          <a:prstGeom prst="rect">
            <a:avLst/>
          </a:prstGeom>
          <a:solidFill>
            <a:srgbClr val="13A48A"/>
          </a:solidFill>
          <a:ln/>
        </p:spPr>
      </p:sp>
      <p:sp>
        <p:nvSpPr>
          <p:cNvPr id="3" name="Text 1"/>
          <p:cNvSpPr/>
          <p:nvPr/>
        </p:nvSpPr>
        <p:spPr>
          <a:xfrm>
            <a:off x="676656" y="365760"/>
            <a:ext cx="7955280" cy="274320"/>
          </a:xfrm>
          <a:prstGeom prst="rect">
            <a:avLst/>
          </a:prstGeom>
          <a:noFill/>
          <a:ln/>
        </p:spPr>
        <p:txBody>
          <a:bodyPr wrap="square" lIns="0" tIns="0" rIns="0" bIns="0" rtlCol="0" anchor="ctr"/>
          <a:lstStyle/>
          <a:p>
            <a:pPr indent="0" marL="0">
              <a:buNone/>
            </a:pPr>
            <a:r>
              <a:rPr lang="en-US" sz="1100" b="1" spc="200" kern="0" dirty="0">
                <a:solidFill>
                  <a:srgbClr val="0E7E69"/>
                </a:solidFill>
                <a:latin typeface="Calibri" pitchFamily="34" charset="0"/>
                <a:ea typeface="Calibri" pitchFamily="34" charset="-122"/>
                <a:cs typeface="Calibri" pitchFamily="34" charset="-120"/>
              </a:rPr>
              <a:t>II. POO</a:t>
            </a:r>
            <a:endParaRPr lang="en-US" sz="1100" dirty="0"/>
          </a:p>
        </p:txBody>
      </p:sp>
      <p:sp>
        <p:nvSpPr>
          <p:cNvPr id="4" name="Text 2"/>
          <p:cNvSpPr/>
          <p:nvPr/>
        </p:nvSpPr>
        <p:spPr>
          <a:xfrm>
            <a:off x="457200" y="658368"/>
            <a:ext cx="8229600" cy="640080"/>
          </a:xfrm>
          <a:prstGeom prst="rect">
            <a:avLst/>
          </a:prstGeom>
          <a:noFill/>
          <a:ln/>
        </p:spPr>
        <p:txBody>
          <a:bodyPr wrap="square" lIns="0" tIns="0" rIns="0" bIns="0" rtlCol="0" anchor="ctr"/>
          <a:lstStyle/>
          <a:p>
            <a:pPr indent="0" marL="0">
              <a:buNone/>
            </a:pPr>
            <a:r>
              <a:rPr lang="en-US" sz="2600" b="1" dirty="0">
                <a:solidFill>
                  <a:srgbClr val="16263A"/>
                </a:solidFill>
                <a:latin typeface="Trebuchet MS" pitchFamily="34" charset="0"/>
                <a:ea typeface="Trebuchet MS" pitchFamily="34" charset="-122"/>
                <a:cs typeface="Trebuchet MS" pitchFamily="34" charset="-120"/>
              </a:rPr>
              <a:t>Composición: objetos dentro de objetos</a:t>
            </a:r>
            <a:endParaRPr lang="en-US" sz="2600" dirty="0"/>
          </a:p>
        </p:txBody>
      </p:sp>
      <p:sp>
        <p:nvSpPr>
          <p:cNvPr id="5" name="Shape 3"/>
          <p:cNvSpPr/>
          <p:nvPr/>
        </p:nvSpPr>
        <p:spPr>
          <a:xfrm>
            <a:off x="457200" y="1554480"/>
            <a:ext cx="4023360" cy="2834640"/>
          </a:xfrm>
          <a:prstGeom prst="rect">
            <a:avLst/>
          </a:prstGeom>
          <a:solidFill>
            <a:srgbClr val="FFFFFF"/>
          </a:solidFill>
          <a:ln w="12700">
            <a:solidFill>
              <a:srgbClr val="D8E0E6"/>
            </a:solidFill>
            <a:prstDash val="solid"/>
          </a:ln>
          <a:effectLst>
            <a:outerShdw sx="100000" sy="100000" kx="0" ky="0" algn="bl" rotWithShape="0" blurRad="88900" dist="38100" dir="8100000">
              <a:srgbClr val="000000">
                <a:alpha val="13000"/>
              </a:srgbClr>
            </a:outerShdw>
          </a:effectLst>
        </p:spPr>
      </p:sp>
      <p:sp>
        <p:nvSpPr>
          <p:cNvPr id="6" name="Shape 4"/>
          <p:cNvSpPr/>
          <p:nvPr/>
        </p:nvSpPr>
        <p:spPr>
          <a:xfrm>
            <a:off x="457200" y="1554480"/>
            <a:ext cx="64008" cy="2834640"/>
          </a:xfrm>
          <a:prstGeom prst="rect">
            <a:avLst/>
          </a:prstGeom>
          <a:solidFill>
            <a:srgbClr val="13A48A"/>
          </a:solidFill>
          <a:ln/>
        </p:spPr>
      </p:sp>
      <p:sp>
        <p:nvSpPr>
          <p:cNvPr id="7" name="Text 5"/>
          <p:cNvSpPr/>
          <p:nvPr/>
        </p:nvSpPr>
        <p:spPr>
          <a:xfrm>
            <a:off x="713232" y="1783080"/>
            <a:ext cx="3611880" cy="960120"/>
          </a:xfrm>
          <a:prstGeom prst="rect">
            <a:avLst/>
          </a:prstGeom>
          <a:noFill/>
          <a:ln/>
        </p:spPr>
        <p:txBody>
          <a:bodyPr wrap="square" rtlCol="0" anchor="t"/>
          <a:lstStyle/>
          <a:p>
            <a:pPr indent="0" marL="0">
              <a:lnSpc>
                <a:spcPct val="106000"/>
              </a:lnSpc>
              <a:buNone/>
            </a:pPr>
            <a:r>
              <a:rPr lang="en-US" sz="1300" dirty="0">
                <a:solidFill>
                  <a:srgbClr val="3E5C76"/>
                </a:solidFill>
                <a:latin typeface="Calibri" pitchFamily="34" charset="0"/>
                <a:ea typeface="Calibri" pitchFamily="34" charset="-122"/>
                <a:cs typeface="Calibri" pitchFamily="34" charset="-120"/>
              </a:rPr>
              <a:t>Cuando una propiedad es lo bastante compleja, conviene representarla con su propia clase y usarla como atributo de otra.</a:t>
            </a:r>
            <a:endParaRPr lang="en-US" sz="1300" dirty="0"/>
          </a:p>
        </p:txBody>
      </p:sp>
      <p:sp>
        <p:nvSpPr>
          <p:cNvPr id="8" name="Text 6"/>
          <p:cNvSpPr/>
          <p:nvPr/>
        </p:nvSpPr>
        <p:spPr>
          <a:xfrm>
            <a:off x="731520" y="2788920"/>
            <a:ext cx="3611880" cy="1280160"/>
          </a:xfrm>
          <a:prstGeom prst="rect">
            <a:avLst/>
          </a:prstGeom>
          <a:noFill/>
          <a:ln/>
        </p:spPr>
        <p:txBody>
          <a:bodyPr wrap="square" rtlCol="0" anchor="t"/>
          <a:lstStyle/>
          <a:p>
            <a:pPr indent="0" marL="0">
              <a:lnSpc>
                <a:spcPct val="110000"/>
              </a:lnSpc>
              <a:buNone/>
            </a:pPr>
            <a:r>
              <a:rPr lang="en-US" sz="1200" b="1" dirty="0">
                <a:solidFill>
                  <a:srgbClr val="0E7E69"/>
                </a:solidFill>
                <a:latin typeface="Calibri" pitchFamily="34" charset="0"/>
                <a:ea typeface="Calibri" pitchFamily="34" charset="-122"/>
                <a:cs typeface="Calibri" pitchFamily="34" charset="-120"/>
              </a:rPr>
              <a:t>Herencia = "es un"  </a:t>
            </a:r>
            <a:pPr indent="0" marL="0">
              <a:lnSpc>
                <a:spcPct val="110000"/>
              </a:lnSpc>
              <a:buNone/>
            </a:pPr>
            <a:r>
              <a:rPr lang="en-US" sz="1200" dirty="0">
                <a:solidFill>
                  <a:srgbClr val="3E5C76"/>
                </a:solidFill>
                <a:latin typeface="Calibri" pitchFamily="34" charset="0"/>
                <a:ea typeface="Calibri" pitchFamily="34" charset="-122"/>
                <a:cs typeface="Calibri" pitchFamily="34" charset="-120"/>
              </a:rPr>
              <a:t>(eléctrica es una moto).</a:t>
            </a:r>
            <a:endParaRPr lang="en-US" sz="1200" dirty="0"/>
          </a:p>
          <a:p>
            <a:pPr indent="0" marL="0">
              <a:lnSpc>
                <a:spcPct val="110000"/>
              </a:lnSpc>
              <a:buNone/>
            </a:pPr>
            <a:r>
              <a:rPr lang="en-US" sz="1200" b="1" dirty="0">
                <a:solidFill>
                  <a:srgbClr val="E0654A"/>
                </a:solidFill>
                <a:latin typeface="Calibri" pitchFamily="34" charset="0"/>
                <a:ea typeface="Calibri" pitchFamily="34" charset="-122"/>
                <a:cs typeface="Calibri" pitchFamily="34" charset="-120"/>
              </a:rPr>
              <a:t>Composición = "tiene un"  </a:t>
            </a:r>
            <a:pPr indent="0" marL="0">
              <a:lnSpc>
                <a:spcPct val="110000"/>
              </a:lnSpc>
              <a:buNone/>
            </a:pPr>
            <a:r>
              <a:rPr lang="en-US" sz="1200" dirty="0">
                <a:solidFill>
                  <a:srgbClr val="3E5C76"/>
                </a:solidFill>
                <a:latin typeface="Calibri" pitchFamily="34" charset="0"/>
                <a:ea typeface="Calibri" pitchFamily="34" charset="-122"/>
                <a:cs typeface="Calibri" pitchFamily="34" charset="-120"/>
              </a:rPr>
              <a:t>(el coche tiene una batería).</a:t>
            </a:r>
            <a:endParaRPr lang="en-US" sz="1200" dirty="0"/>
          </a:p>
        </p:txBody>
      </p:sp>
      <p:sp>
        <p:nvSpPr>
          <p:cNvPr id="9" name="Shape 7"/>
          <p:cNvSpPr/>
          <p:nvPr/>
        </p:nvSpPr>
        <p:spPr>
          <a:xfrm>
            <a:off x="4800600" y="1554480"/>
            <a:ext cx="3886200" cy="2834640"/>
          </a:xfrm>
          <a:prstGeom prst="rect">
            <a:avLst/>
          </a:prstGeom>
          <a:solidFill>
            <a:srgbClr val="0F2233"/>
          </a:solidFill>
          <a:ln/>
          <a:effectLst>
            <a:outerShdw sx="100000" sy="100000" kx="0" ky="0" algn="bl" rotWithShape="0" blurRad="88900" dist="38100" dir="8100000">
              <a:srgbClr val="000000">
                <a:alpha val="13000"/>
              </a:srgbClr>
            </a:outerShdw>
          </a:effectLst>
        </p:spPr>
      </p:sp>
      <p:sp>
        <p:nvSpPr>
          <p:cNvPr id="10" name="Shape 8"/>
          <p:cNvSpPr/>
          <p:nvPr/>
        </p:nvSpPr>
        <p:spPr>
          <a:xfrm>
            <a:off x="4800600" y="1554480"/>
            <a:ext cx="64008" cy="2834640"/>
          </a:xfrm>
          <a:prstGeom prst="rect">
            <a:avLst/>
          </a:prstGeom>
          <a:solidFill>
            <a:srgbClr val="13A48A"/>
          </a:solidFill>
          <a:ln/>
        </p:spPr>
      </p:sp>
      <p:sp>
        <p:nvSpPr>
          <p:cNvPr id="11" name="Text 9"/>
          <p:cNvSpPr/>
          <p:nvPr/>
        </p:nvSpPr>
        <p:spPr>
          <a:xfrm>
            <a:off x="4983480" y="1664208"/>
            <a:ext cx="3566160" cy="2615184"/>
          </a:xfrm>
          <a:prstGeom prst="rect">
            <a:avLst/>
          </a:prstGeom>
          <a:noFill/>
          <a:ln/>
        </p:spPr>
        <p:txBody>
          <a:bodyPr wrap="square" lIns="0" tIns="0" rIns="0" bIns="0" rtlCol="0" anchor="t"/>
          <a:lstStyle/>
          <a:p>
            <a:pPr indent="0" marL="0">
              <a:lnSpc>
                <a:spcPct val="105000"/>
              </a:lnSpc>
              <a:buNone/>
            </a:pPr>
            <a:r>
              <a:rPr lang="en-US" sz="850" dirty="0">
                <a:solidFill>
                  <a:srgbClr val="CFE8E1"/>
                </a:solidFill>
                <a:latin typeface="Consolas" pitchFamily="34" charset="0"/>
                <a:ea typeface="Consolas" pitchFamily="34" charset="-122"/>
                <a:cs typeface="Consolas" pitchFamily="34" charset="-120"/>
              </a:rPr>
              <a:t>class Bateria:</a:t>
            </a:r>
            <a:endParaRPr lang="en-US" sz="850" dirty="0"/>
          </a:p>
          <a:p>
            <a:pPr indent="0" marL="0">
              <a:lnSpc>
                <a:spcPct val="105000"/>
              </a:lnSpc>
              <a:buNone/>
            </a:pPr>
            <a:r>
              <a:rPr lang="en-US" sz="850" dirty="0">
                <a:solidFill>
                  <a:srgbClr val="CFE8E1"/>
                </a:solidFill>
                <a:latin typeface="Consolas" pitchFamily="34" charset="0"/>
                <a:ea typeface="Consolas" pitchFamily="34" charset="-122"/>
                <a:cs typeface="Consolas" pitchFamily="34" charset="-120"/>
              </a:rPr>
              <a:t>    def __init__(self, capacidad):</a:t>
            </a:r>
            <a:endParaRPr lang="en-US" sz="850" dirty="0"/>
          </a:p>
          <a:p>
            <a:pPr indent="0" marL="0">
              <a:lnSpc>
                <a:spcPct val="105000"/>
              </a:lnSpc>
              <a:buNone/>
            </a:pPr>
            <a:r>
              <a:rPr lang="en-US" sz="850" dirty="0">
                <a:solidFill>
                  <a:srgbClr val="CFE8E1"/>
                </a:solidFill>
                <a:latin typeface="Consolas" pitchFamily="34" charset="0"/>
                <a:ea typeface="Consolas" pitchFamily="34" charset="-122"/>
                <a:cs typeface="Consolas" pitchFamily="34" charset="-120"/>
              </a:rPr>
              <a:t>        self._capacidad = capacidad</a:t>
            </a:r>
            <a:endParaRPr lang="en-US" sz="850" dirty="0"/>
          </a:p>
          <a:p>
            <a:pPr indent="0" marL="0">
              <a:lnSpc>
                <a:spcPct val="105000"/>
              </a:lnSpc>
              <a:buNone/>
            </a:pPr>
            <a:endParaRPr lang="en-US" sz="850" dirty="0"/>
          </a:p>
          <a:p>
            <a:pPr indent="0" marL="0">
              <a:lnSpc>
                <a:spcPct val="105000"/>
              </a:lnSpc>
              <a:buNone/>
            </a:pPr>
            <a:r>
              <a:rPr lang="en-US" sz="850" dirty="0">
                <a:solidFill>
                  <a:srgbClr val="CFE8E1"/>
                </a:solidFill>
                <a:latin typeface="Consolas" pitchFamily="34" charset="0"/>
                <a:ea typeface="Consolas" pitchFamily="34" charset="-122"/>
                <a:cs typeface="Consolas" pitchFamily="34" charset="-120"/>
              </a:rPr>
              <a:t>class CocheElectrico(Moto1):</a:t>
            </a:r>
            <a:endParaRPr lang="en-US" sz="850" dirty="0"/>
          </a:p>
          <a:p>
            <a:pPr indent="0" marL="0">
              <a:lnSpc>
                <a:spcPct val="105000"/>
              </a:lnSpc>
              <a:buNone/>
            </a:pPr>
            <a:r>
              <a:rPr lang="en-US" sz="850" dirty="0">
                <a:solidFill>
                  <a:srgbClr val="CFE8E1"/>
                </a:solidFill>
                <a:latin typeface="Consolas" pitchFamily="34" charset="0"/>
                <a:ea typeface="Consolas" pitchFamily="34" charset="-122"/>
                <a:cs typeface="Consolas" pitchFamily="34" charset="-120"/>
              </a:rPr>
              <a:t>    def __init__(self, m, cv, c, bateria):</a:t>
            </a:r>
            <a:endParaRPr lang="en-US" sz="850" dirty="0"/>
          </a:p>
          <a:p>
            <a:pPr indent="0" marL="0">
              <a:lnSpc>
                <a:spcPct val="105000"/>
              </a:lnSpc>
              <a:buNone/>
            </a:pPr>
            <a:r>
              <a:rPr lang="en-US" sz="850" dirty="0">
                <a:solidFill>
                  <a:srgbClr val="CFE8E1"/>
                </a:solidFill>
                <a:latin typeface="Consolas" pitchFamily="34" charset="0"/>
                <a:ea typeface="Consolas" pitchFamily="34" charset="-122"/>
                <a:cs typeface="Consolas" pitchFamily="34" charset="-120"/>
              </a:rPr>
              <a:t>        super().__init__(m, cv, c)</a:t>
            </a:r>
            <a:endParaRPr lang="en-US" sz="850" dirty="0"/>
          </a:p>
          <a:p>
            <a:pPr indent="0" marL="0">
              <a:lnSpc>
                <a:spcPct val="105000"/>
              </a:lnSpc>
              <a:buNone/>
            </a:pPr>
            <a:r>
              <a:rPr lang="en-US" sz="850" dirty="0">
                <a:solidFill>
                  <a:srgbClr val="CFE8E1"/>
                </a:solidFill>
                <a:latin typeface="Consolas" pitchFamily="34" charset="0"/>
                <a:ea typeface="Consolas" pitchFamily="34" charset="-122"/>
                <a:cs typeface="Consolas" pitchFamily="34" charset="-120"/>
              </a:rPr>
              <a:t>        self._bateria = bateria  # objeto</a:t>
            </a:r>
            <a:endParaRPr lang="en-US" sz="850" dirty="0"/>
          </a:p>
        </p:txBody>
      </p:sp>
      <p:sp>
        <p:nvSpPr>
          <p:cNvPr id="12" name="Text 10"/>
          <p:cNvSpPr/>
          <p:nvPr/>
        </p:nvSpPr>
        <p:spPr>
          <a:xfrm>
            <a:off x="457200" y="4828032"/>
            <a:ext cx="5943600" cy="228600"/>
          </a:xfrm>
          <a:prstGeom prst="rect">
            <a:avLst/>
          </a:prstGeom>
          <a:noFill/>
          <a:ln/>
        </p:spPr>
        <p:txBody>
          <a:bodyPr wrap="square" rtlCol="0" anchor="ctr"/>
          <a:lstStyle/>
          <a:p>
            <a:pPr indent="0" marL="0">
              <a:buNone/>
            </a:pPr>
            <a:r>
              <a:rPr lang="en-US" sz="800" dirty="0">
                <a:solidFill>
                  <a:srgbClr val="6B7B8C"/>
                </a:solidFill>
                <a:latin typeface="Calibri" pitchFamily="34" charset="0"/>
                <a:ea typeface="Calibri" pitchFamily="34" charset="-122"/>
                <a:cs typeface="Calibri" pitchFamily="34" charset="-120"/>
              </a:rPr>
              <a:t>POO en Python · Parte práctica · Semana 2 · MCDI500</a:t>
            </a:r>
            <a:endParaRPr lang="en-US" sz="800" dirty="0"/>
          </a:p>
        </p:txBody>
      </p:sp>
      <p:sp>
        <p:nvSpPr>
          <p:cNvPr id="13" name="Text 11"/>
          <p:cNvSpPr/>
          <p:nvPr/>
        </p:nvSpPr>
        <p:spPr>
          <a:xfrm>
            <a:off x="8321040" y="4828032"/>
            <a:ext cx="365760" cy="228600"/>
          </a:xfrm>
          <a:prstGeom prst="rect">
            <a:avLst/>
          </a:prstGeom>
          <a:noFill/>
          <a:ln/>
        </p:spPr>
        <p:txBody>
          <a:bodyPr wrap="square" rtlCol="0" anchor="ctr"/>
          <a:lstStyle/>
          <a:p>
            <a:pPr algn="r" indent="0" marL="0">
              <a:buNone/>
            </a:pPr>
            <a:r>
              <a:rPr lang="en-US" sz="900" dirty="0">
                <a:solidFill>
                  <a:srgbClr val="6B7B8C"/>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20624"/>
            <a:ext cx="146304" cy="146304"/>
          </a:xfrm>
          <a:prstGeom prst="rect">
            <a:avLst/>
          </a:prstGeom>
          <a:solidFill>
            <a:srgbClr val="13A48A"/>
          </a:solidFill>
          <a:ln/>
        </p:spPr>
      </p:sp>
      <p:sp>
        <p:nvSpPr>
          <p:cNvPr id="3" name="Text 1"/>
          <p:cNvSpPr/>
          <p:nvPr/>
        </p:nvSpPr>
        <p:spPr>
          <a:xfrm>
            <a:off x="676656" y="365760"/>
            <a:ext cx="7955280" cy="274320"/>
          </a:xfrm>
          <a:prstGeom prst="rect">
            <a:avLst/>
          </a:prstGeom>
          <a:noFill/>
          <a:ln/>
        </p:spPr>
        <p:txBody>
          <a:bodyPr wrap="square" lIns="0" tIns="0" rIns="0" bIns="0" rtlCol="0" anchor="ctr"/>
          <a:lstStyle/>
          <a:p>
            <a:pPr indent="0" marL="0">
              <a:buNone/>
            </a:pPr>
            <a:r>
              <a:rPr lang="en-US" sz="1100" b="1" spc="200" kern="0" dirty="0">
                <a:solidFill>
                  <a:srgbClr val="0E7E69"/>
                </a:solidFill>
                <a:latin typeface="Calibri" pitchFamily="34" charset="0"/>
                <a:ea typeface="Calibri" pitchFamily="34" charset="-122"/>
                <a:cs typeface="Calibri" pitchFamily="34" charset="-120"/>
              </a:rPr>
              <a:t>III. TODO ES OBJETO</a:t>
            </a:r>
            <a:endParaRPr lang="en-US" sz="1100" dirty="0"/>
          </a:p>
        </p:txBody>
      </p:sp>
      <p:sp>
        <p:nvSpPr>
          <p:cNvPr id="4" name="Text 2"/>
          <p:cNvSpPr/>
          <p:nvPr/>
        </p:nvSpPr>
        <p:spPr>
          <a:xfrm>
            <a:off x="457200" y="658368"/>
            <a:ext cx="8229600" cy="640080"/>
          </a:xfrm>
          <a:prstGeom prst="rect">
            <a:avLst/>
          </a:prstGeom>
          <a:noFill/>
          <a:ln/>
        </p:spPr>
        <p:txBody>
          <a:bodyPr wrap="square" lIns="0" tIns="0" rIns="0" bIns="0" rtlCol="0" anchor="ctr"/>
          <a:lstStyle/>
          <a:p>
            <a:pPr indent="0" marL="0">
              <a:buNone/>
            </a:pPr>
            <a:r>
              <a:rPr lang="en-US" sz="2600" b="1" dirty="0">
                <a:solidFill>
                  <a:srgbClr val="16263A"/>
                </a:solidFill>
                <a:latin typeface="Trebuchet MS" pitchFamily="34" charset="0"/>
                <a:ea typeface="Trebuchet MS" pitchFamily="34" charset="-122"/>
                <a:cs typeface="Trebuchet MS" pitchFamily="34" charset="-120"/>
              </a:rPr>
              <a:t>Manipular los tipos de datos de Python</a:t>
            </a:r>
            <a:endParaRPr lang="en-US" sz="2600" dirty="0"/>
          </a:p>
        </p:txBody>
      </p:sp>
      <p:sp>
        <p:nvSpPr>
          <p:cNvPr id="5" name="Text 3"/>
          <p:cNvSpPr/>
          <p:nvPr/>
        </p:nvSpPr>
        <p:spPr>
          <a:xfrm>
            <a:off x="457200" y="1417320"/>
            <a:ext cx="8229600" cy="548640"/>
          </a:xfrm>
          <a:prstGeom prst="rect">
            <a:avLst/>
          </a:prstGeom>
          <a:noFill/>
          <a:ln/>
        </p:spPr>
        <p:txBody>
          <a:bodyPr wrap="square" rtlCol="0" anchor="ctr"/>
          <a:lstStyle/>
          <a:p>
            <a:pPr indent="0" marL="0">
              <a:lnSpc>
                <a:spcPct val="105000"/>
              </a:lnSpc>
              <a:buNone/>
            </a:pPr>
            <a:r>
              <a:rPr lang="en-US" sz="1300" dirty="0">
                <a:solidFill>
                  <a:srgbClr val="3E5C76"/>
                </a:solidFill>
                <a:latin typeface="Calibri" pitchFamily="34" charset="0"/>
                <a:ea typeface="Calibri" pitchFamily="34" charset="-122"/>
                <a:cs typeface="Calibri" pitchFamily="34" charset="-120"/>
              </a:rPr>
              <a:t>Números, strings, listas, sets y diccionarios son objetos: cada uno trae sus propios métodos. dir(obj) los lista; help() los explica.</a:t>
            </a:r>
            <a:endParaRPr lang="en-US" sz="1300" dirty="0"/>
          </a:p>
        </p:txBody>
      </p:sp>
      <p:sp>
        <p:nvSpPr>
          <p:cNvPr id="6" name="Shape 4"/>
          <p:cNvSpPr/>
          <p:nvPr/>
        </p:nvSpPr>
        <p:spPr>
          <a:xfrm>
            <a:off x="457200" y="2057400"/>
            <a:ext cx="4023360" cy="1051560"/>
          </a:xfrm>
          <a:prstGeom prst="rect">
            <a:avLst/>
          </a:prstGeom>
          <a:solidFill>
            <a:srgbClr val="FFFFFF"/>
          </a:solidFill>
          <a:ln w="12700">
            <a:solidFill>
              <a:srgbClr val="D8E0E6"/>
            </a:solidFill>
            <a:prstDash val="solid"/>
          </a:ln>
          <a:effectLst>
            <a:outerShdw sx="100000" sy="100000" kx="0" ky="0" algn="bl" rotWithShape="0" blurRad="88900" dist="38100" dir="8100000">
              <a:srgbClr val="000000">
                <a:alpha val="13000"/>
              </a:srgbClr>
            </a:outerShdw>
          </a:effectLst>
        </p:spPr>
      </p:sp>
      <p:sp>
        <p:nvSpPr>
          <p:cNvPr id="7" name="Shape 5"/>
          <p:cNvSpPr/>
          <p:nvPr/>
        </p:nvSpPr>
        <p:spPr>
          <a:xfrm>
            <a:off x="457200" y="2057400"/>
            <a:ext cx="64008" cy="1051560"/>
          </a:xfrm>
          <a:prstGeom prst="rect">
            <a:avLst/>
          </a:prstGeom>
          <a:solidFill>
            <a:srgbClr val="13A48A"/>
          </a:solidFill>
          <a:ln/>
        </p:spPr>
      </p:sp>
      <p:sp>
        <p:nvSpPr>
          <p:cNvPr id="8" name="Shape 6"/>
          <p:cNvSpPr/>
          <p:nvPr/>
        </p:nvSpPr>
        <p:spPr>
          <a:xfrm>
            <a:off x="640080" y="2336292"/>
            <a:ext cx="493776" cy="493776"/>
          </a:xfrm>
          <a:prstGeom prst="ellipse">
            <a:avLst/>
          </a:prstGeom>
          <a:solidFill>
            <a:srgbClr val="EEF3F6"/>
          </a:solidFill>
          <a:ln/>
        </p:spPr>
      </p:sp>
      <p:pic>
        <p:nvPicPr>
          <p:cNvPr id="9" name="Image 0" descr="preencoded.png">    </p:cNvPr>
          <p:cNvPicPr>
            <a:picLocks noChangeAspect="1"/>
          </p:cNvPicPr>
          <p:nvPr/>
        </p:nvPicPr>
        <p:blipFill>
          <a:blip r:embed="rId1"/>
          <a:stretch>
            <a:fillRect/>
          </a:stretch>
        </p:blipFill>
        <p:spPr>
          <a:xfrm>
            <a:off x="748711" y="2444923"/>
            <a:ext cx="276515" cy="276515"/>
          </a:xfrm>
          <a:prstGeom prst="rect">
            <a:avLst/>
          </a:prstGeom>
        </p:spPr>
      </p:pic>
      <p:sp>
        <p:nvSpPr>
          <p:cNvPr id="10" name="Text 7"/>
          <p:cNvSpPr/>
          <p:nvPr/>
        </p:nvSpPr>
        <p:spPr>
          <a:xfrm>
            <a:off x="1234440" y="2167128"/>
            <a:ext cx="3108960" cy="365760"/>
          </a:xfrm>
          <a:prstGeom prst="rect">
            <a:avLst/>
          </a:prstGeom>
          <a:noFill/>
          <a:ln/>
        </p:spPr>
        <p:txBody>
          <a:bodyPr wrap="square" rtlCol="0" anchor="ctr"/>
          <a:lstStyle/>
          <a:p>
            <a:pPr indent="0" marL="0">
              <a:buNone/>
            </a:pPr>
            <a:r>
              <a:rPr lang="en-US" sz="1400" b="1" dirty="0">
                <a:solidFill>
                  <a:srgbClr val="16263A"/>
                </a:solidFill>
                <a:latin typeface="Trebuchet MS" pitchFamily="34" charset="0"/>
                <a:ea typeface="Trebuchet MS" pitchFamily="34" charset="-122"/>
                <a:cs typeface="Trebuchet MS" pitchFamily="34" charset="-120"/>
              </a:rPr>
              <a:t>Texto</a:t>
            </a:r>
            <a:endParaRPr lang="en-US" sz="1400" dirty="0"/>
          </a:p>
        </p:txBody>
      </p:sp>
      <p:sp>
        <p:nvSpPr>
          <p:cNvPr id="11" name="Text 8"/>
          <p:cNvSpPr/>
          <p:nvPr/>
        </p:nvSpPr>
        <p:spPr>
          <a:xfrm>
            <a:off x="1234440" y="2532888"/>
            <a:ext cx="3108960" cy="457200"/>
          </a:xfrm>
          <a:prstGeom prst="rect">
            <a:avLst/>
          </a:prstGeom>
          <a:noFill/>
          <a:ln/>
        </p:spPr>
        <p:txBody>
          <a:bodyPr wrap="square" rtlCol="0" anchor="t"/>
          <a:lstStyle/>
          <a:p>
            <a:pPr indent="0" marL="0">
              <a:buNone/>
            </a:pPr>
            <a:r>
              <a:rPr lang="en-US" sz="1050" dirty="0">
                <a:solidFill>
                  <a:srgbClr val="3E5C76"/>
                </a:solidFill>
                <a:latin typeface="Consolas" pitchFamily="34" charset="0"/>
                <a:ea typeface="Consolas" pitchFamily="34" charset="-122"/>
                <a:cs typeface="Consolas" pitchFamily="34" charset="-120"/>
              </a:rPr>
              <a:t>texto.upper()  ·  .capitalize()  ·  .isalnum()</a:t>
            </a:r>
            <a:endParaRPr lang="en-US" sz="1050" dirty="0"/>
          </a:p>
        </p:txBody>
      </p:sp>
      <p:sp>
        <p:nvSpPr>
          <p:cNvPr id="12" name="Shape 9"/>
          <p:cNvSpPr/>
          <p:nvPr/>
        </p:nvSpPr>
        <p:spPr>
          <a:xfrm>
            <a:off x="4663440" y="2057400"/>
            <a:ext cx="4023360" cy="1051560"/>
          </a:xfrm>
          <a:prstGeom prst="rect">
            <a:avLst/>
          </a:prstGeom>
          <a:solidFill>
            <a:srgbClr val="FFFFFF"/>
          </a:solidFill>
          <a:ln w="12700">
            <a:solidFill>
              <a:srgbClr val="D8E0E6"/>
            </a:solidFill>
            <a:prstDash val="solid"/>
          </a:ln>
          <a:effectLst>
            <a:outerShdw sx="100000" sy="100000" kx="0" ky="0" algn="bl" rotWithShape="0" blurRad="88900" dist="38100" dir="8100000">
              <a:srgbClr val="000000">
                <a:alpha val="13000"/>
              </a:srgbClr>
            </a:outerShdw>
          </a:effectLst>
        </p:spPr>
      </p:sp>
      <p:sp>
        <p:nvSpPr>
          <p:cNvPr id="13" name="Shape 10"/>
          <p:cNvSpPr/>
          <p:nvPr/>
        </p:nvSpPr>
        <p:spPr>
          <a:xfrm>
            <a:off x="4663440" y="2057400"/>
            <a:ext cx="64008" cy="1051560"/>
          </a:xfrm>
          <a:prstGeom prst="rect">
            <a:avLst/>
          </a:prstGeom>
          <a:solidFill>
            <a:srgbClr val="E0654A"/>
          </a:solidFill>
          <a:ln/>
        </p:spPr>
      </p:sp>
      <p:sp>
        <p:nvSpPr>
          <p:cNvPr id="14" name="Shape 11"/>
          <p:cNvSpPr/>
          <p:nvPr/>
        </p:nvSpPr>
        <p:spPr>
          <a:xfrm>
            <a:off x="4846320" y="2336292"/>
            <a:ext cx="493776" cy="493776"/>
          </a:xfrm>
          <a:prstGeom prst="ellipse">
            <a:avLst/>
          </a:prstGeom>
          <a:solidFill>
            <a:srgbClr val="EEF3F6"/>
          </a:solidFill>
          <a:ln/>
        </p:spPr>
      </p:sp>
      <p:pic>
        <p:nvPicPr>
          <p:cNvPr id="15" name="Image 1" descr="preencoded.png">    </p:cNvPr>
          <p:cNvPicPr>
            <a:picLocks noChangeAspect="1"/>
          </p:cNvPicPr>
          <p:nvPr/>
        </p:nvPicPr>
        <p:blipFill>
          <a:blip r:embed="rId2"/>
          <a:stretch>
            <a:fillRect/>
          </a:stretch>
        </p:blipFill>
        <p:spPr>
          <a:xfrm>
            <a:off x="4954951" y="2444923"/>
            <a:ext cx="276515" cy="276515"/>
          </a:xfrm>
          <a:prstGeom prst="rect">
            <a:avLst/>
          </a:prstGeom>
        </p:spPr>
      </p:pic>
      <p:sp>
        <p:nvSpPr>
          <p:cNvPr id="16" name="Text 12"/>
          <p:cNvSpPr/>
          <p:nvPr/>
        </p:nvSpPr>
        <p:spPr>
          <a:xfrm>
            <a:off x="5440680" y="2167128"/>
            <a:ext cx="3108960" cy="365760"/>
          </a:xfrm>
          <a:prstGeom prst="rect">
            <a:avLst/>
          </a:prstGeom>
          <a:noFill/>
          <a:ln/>
        </p:spPr>
        <p:txBody>
          <a:bodyPr wrap="square" rtlCol="0" anchor="ctr"/>
          <a:lstStyle/>
          <a:p>
            <a:pPr indent="0" marL="0">
              <a:buNone/>
            </a:pPr>
            <a:r>
              <a:rPr lang="en-US" sz="1400" b="1" dirty="0">
                <a:solidFill>
                  <a:srgbClr val="16263A"/>
                </a:solidFill>
                <a:latin typeface="Trebuchet MS" pitchFamily="34" charset="0"/>
                <a:ea typeface="Trebuchet MS" pitchFamily="34" charset="-122"/>
                <a:cs typeface="Trebuchet MS" pitchFamily="34" charset="-120"/>
              </a:rPr>
              <a:t>Listas</a:t>
            </a:r>
            <a:endParaRPr lang="en-US" sz="1400" dirty="0"/>
          </a:p>
        </p:txBody>
      </p:sp>
      <p:sp>
        <p:nvSpPr>
          <p:cNvPr id="17" name="Text 13"/>
          <p:cNvSpPr/>
          <p:nvPr/>
        </p:nvSpPr>
        <p:spPr>
          <a:xfrm>
            <a:off x="5440680" y="2532888"/>
            <a:ext cx="3108960" cy="457200"/>
          </a:xfrm>
          <a:prstGeom prst="rect">
            <a:avLst/>
          </a:prstGeom>
          <a:noFill/>
          <a:ln/>
        </p:spPr>
        <p:txBody>
          <a:bodyPr wrap="square" rtlCol="0" anchor="t"/>
          <a:lstStyle/>
          <a:p>
            <a:pPr indent="0" marL="0">
              <a:buNone/>
            </a:pPr>
            <a:r>
              <a:rPr lang="en-US" sz="1050" dirty="0">
                <a:solidFill>
                  <a:srgbClr val="3E5C76"/>
                </a:solidFill>
                <a:latin typeface="Consolas" pitchFamily="34" charset="0"/>
                <a:ea typeface="Consolas" pitchFamily="34" charset="-122"/>
                <a:cs typeface="Consolas" pitchFamily="34" charset="-120"/>
              </a:rPr>
              <a:t>lista.append(x)  ·  .extend([..])  ·  .clear()</a:t>
            </a:r>
            <a:endParaRPr lang="en-US" sz="1050" dirty="0"/>
          </a:p>
        </p:txBody>
      </p:sp>
      <p:sp>
        <p:nvSpPr>
          <p:cNvPr id="18" name="Shape 14"/>
          <p:cNvSpPr/>
          <p:nvPr/>
        </p:nvSpPr>
        <p:spPr>
          <a:xfrm>
            <a:off x="457200" y="3273552"/>
            <a:ext cx="4023360" cy="1051560"/>
          </a:xfrm>
          <a:prstGeom prst="rect">
            <a:avLst/>
          </a:prstGeom>
          <a:solidFill>
            <a:srgbClr val="FFFFFF"/>
          </a:solidFill>
          <a:ln w="12700">
            <a:solidFill>
              <a:srgbClr val="D8E0E6"/>
            </a:solidFill>
            <a:prstDash val="solid"/>
          </a:ln>
          <a:effectLst>
            <a:outerShdw sx="100000" sy="100000" kx="0" ky="0" algn="bl" rotWithShape="0" blurRad="88900" dist="38100" dir="8100000">
              <a:srgbClr val="000000">
                <a:alpha val="13000"/>
              </a:srgbClr>
            </a:outerShdw>
          </a:effectLst>
        </p:spPr>
      </p:sp>
      <p:sp>
        <p:nvSpPr>
          <p:cNvPr id="19" name="Shape 15"/>
          <p:cNvSpPr/>
          <p:nvPr/>
        </p:nvSpPr>
        <p:spPr>
          <a:xfrm>
            <a:off x="457200" y="3273552"/>
            <a:ext cx="64008" cy="1051560"/>
          </a:xfrm>
          <a:prstGeom prst="rect">
            <a:avLst/>
          </a:prstGeom>
          <a:solidFill>
            <a:srgbClr val="13A48A"/>
          </a:solidFill>
          <a:ln/>
        </p:spPr>
      </p:sp>
      <p:sp>
        <p:nvSpPr>
          <p:cNvPr id="20" name="Shape 16"/>
          <p:cNvSpPr/>
          <p:nvPr/>
        </p:nvSpPr>
        <p:spPr>
          <a:xfrm>
            <a:off x="640080" y="3552444"/>
            <a:ext cx="493776" cy="493776"/>
          </a:xfrm>
          <a:prstGeom prst="ellipse">
            <a:avLst/>
          </a:prstGeom>
          <a:solidFill>
            <a:srgbClr val="EEF3F6"/>
          </a:solidFill>
          <a:ln/>
        </p:spPr>
      </p:sp>
      <p:pic>
        <p:nvPicPr>
          <p:cNvPr id="21" name="Image 2" descr="preencoded.png">    </p:cNvPr>
          <p:cNvPicPr>
            <a:picLocks noChangeAspect="1"/>
          </p:cNvPicPr>
          <p:nvPr/>
        </p:nvPicPr>
        <p:blipFill>
          <a:blip r:embed="rId3"/>
          <a:stretch>
            <a:fillRect/>
          </a:stretch>
        </p:blipFill>
        <p:spPr>
          <a:xfrm>
            <a:off x="748711" y="3661075"/>
            <a:ext cx="276515" cy="276515"/>
          </a:xfrm>
          <a:prstGeom prst="rect">
            <a:avLst/>
          </a:prstGeom>
        </p:spPr>
      </p:pic>
      <p:sp>
        <p:nvSpPr>
          <p:cNvPr id="22" name="Text 17"/>
          <p:cNvSpPr/>
          <p:nvPr/>
        </p:nvSpPr>
        <p:spPr>
          <a:xfrm>
            <a:off x="1234440" y="3383280"/>
            <a:ext cx="3108960" cy="365760"/>
          </a:xfrm>
          <a:prstGeom prst="rect">
            <a:avLst/>
          </a:prstGeom>
          <a:noFill/>
          <a:ln/>
        </p:spPr>
        <p:txBody>
          <a:bodyPr wrap="square" rtlCol="0" anchor="ctr"/>
          <a:lstStyle/>
          <a:p>
            <a:pPr indent="0" marL="0">
              <a:buNone/>
            </a:pPr>
            <a:r>
              <a:rPr lang="en-US" sz="1400" b="1" dirty="0">
                <a:solidFill>
                  <a:srgbClr val="16263A"/>
                </a:solidFill>
                <a:latin typeface="Trebuchet MS" pitchFamily="34" charset="0"/>
                <a:ea typeface="Trebuchet MS" pitchFamily="34" charset="-122"/>
                <a:cs typeface="Trebuchet MS" pitchFamily="34" charset="-120"/>
              </a:rPr>
              <a:t>Sets</a:t>
            </a:r>
            <a:endParaRPr lang="en-US" sz="1400" dirty="0"/>
          </a:p>
        </p:txBody>
      </p:sp>
      <p:sp>
        <p:nvSpPr>
          <p:cNvPr id="23" name="Text 18"/>
          <p:cNvSpPr/>
          <p:nvPr/>
        </p:nvSpPr>
        <p:spPr>
          <a:xfrm>
            <a:off x="1234440" y="3749040"/>
            <a:ext cx="3108960" cy="457200"/>
          </a:xfrm>
          <a:prstGeom prst="rect">
            <a:avLst/>
          </a:prstGeom>
          <a:noFill/>
          <a:ln/>
        </p:spPr>
        <p:txBody>
          <a:bodyPr wrap="square" rtlCol="0" anchor="t"/>
          <a:lstStyle/>
          <a:p>
            <a:pPr indent="0" marL="0">
              <a:buNone/>
            </a:pPr>
            <a:r>
              <a:rPr lang="en-US" sz="1050" dirty="0">
                <a:solidFill>
                  <a:srgbClr val="3E5C76"/>
                </a:solidFill>
                <a:latin typeface="Consolas" pitchFamily="34" charset="0"/>
                <a:ea typeface="Consolas" pitchFamily="34" charset="-122"/>
                <a:cs typeface="Consolas" pitchFamily="34" charset="-120"/>
              </a:rPr>
              <a:t>a.intersection(b)  ·  uniones y diferencias</a:t>
            </a:r>
            <a:endParaRPr lang="en-US" sz="1050" dirty="0"/>
          </a:p>
        </p:txBody>
      </p:sp>
      <p:sp>
        <p:nvSpPr>
          <p:cNvPr id="24" name="Shape 19"/>
          <p:cNvSpPr/>
          <p:nvPr/>
        </p:nvSpPr>
        <p:spPr>
          <a:xfrm>
            <a:off x="4663440" y="3273552"/>
            <a:ext cx="4023360" cy="1051560"/>
          </a:xfrm>
          <a:prstGeom prst="rect">
            <a:avLst/>
          </a:prstGeom>
          <a:solidFill>
            <a:srgbClr val="FFFFFF"/>
          </a:solidFill>
          <a:ln w="12700">
            <a:solidFill>
              <a:srgbClr val="D8E0E6"/>
            </a:solidFill>
            <a:prstDash val="solid"/>
          </a:ln>
          <a:effectLst>
            <a:outerShdw sx="100000" sy="100000" kx="0" ky="0" algn="bl" rotWithShape="0" blurRad="88900" dist="38100" dir="8100000">
              <a:srgbClr val="000000">
                <a:alpha val="13000"/>
              </a:srgbClr>
            </a:outerShdw>
          </a:effectLst>
        </p:spPr>
      </p:sp>
      <p:sp>
        <p:nvSpPr>
          <p:cNvPr id="25" name="Shape 20"/>
          <p:cNvSpPr/>
          <p:nvPr/>
        </p:nvSpPr>
        <p:spPr>
          <a:xfrm>
            <a:off x="4663440" y="3273552"/>
            <a:ext cx="64008" cy="1051560"/>
          </a:xfrm>
          <a:prstGeom prst="rect">
            <a:avLst/>
          </a:prstGeom>
          <a:solidFill>
            <a:srgbClr val="E0654A"/>
          </a:solidFill>
          <a:ln/>
        </p:spPr>
      </p:sp>
      <p:sp>
        <p:nvSpPr>
          <p:cNvPr id="26" name="Shape 21"/>
          <p:cNvSpPr/>
          <p:nvPr/>
        </p:nvSpPr>
        <p:spPr>
          <a:xfrm>
            <a:off x="4846320" y="3552444"/>
            <a:ext cx="493776" cy="493776"/>
          </a:xfrm>
          <a:prstGeom prst="ellipse">
            <a:avLst/>
          </a:prstGeom>
          <a:solidFill>
            <a:srgbClr val="EEF3F6"/>
          </a:solidFill>
          <a:ln/>
        </p:spPr>
      </p:sp>
      <p:pic>
        <p:nvPicPr>
          <p:cNvPr id="27" name="Image 3" descr="preencoded.png">    </p:cNvPr>
          <p:cNvPicPr>
            <a:picLocks noChangeAspect="1"/>
          </p:cNvPicPr>
          <p:nvPr/>
        </p:nvPicPr>
        <p:blipFill>
          <a:blip r:embed="rId4"/>
          <a:stretch>
            <a:fillRect/>
          </a:stretch>
        </p:blipFill>
        <p:spPr>
          <a:xfrm>
            <a:off x="4954951" y="3661075"/>
            <a:ext cx="276515" cy="276515"/>
          </a:xfrm>
          <a:prstGeom prst="rect">
            <a:avLst/>
          </a:prstGeom>
        </p:spPr>
      </p:pic>
      <p:sp>
        <p:nvSpPr>
          <p:cNvPr id="28" name="Text 22"/>
          <p:cNvSpPr/>
          <p:nvPr/>
        </p:nvSpPr>
        <p:spPr>
          <a:xfrm>
            <a:off x="5440680" y="3383280"/>
            <a:ext cx="3108960" cy="365760"/>
          </a:xfrm>
          <a:prstGeom prst="rect">
            <a:avLst/>
          </a:prstGeom>
          <a:noFill/>
          <a:ln/>
        </p:spPr>
        <p:txBody>
          <a:bodyPr wrap="square" rtlCol="0" anchor="ctr"/>
          <a:lstStyle/>
          <a:p>
            <a:pPr indent="0" marL="0">
              <a:buNone/>
            </a:pPr>
            <a:r>
              <a:rPr lang="en-US" sz="1400" b="1" dirty="0">
                <a:solidFill>
                  <a:srgbClr val="16263A"/>
                </a:solidFill>
                <a:latin typeface="Trebuchet MS" pitchFamily="34" charset="0"/>
                <a:ea typeface="Trebuchet MS" pitchFamily="34" charset="-122"/>
                <a:cs typeface="Trebuchet MS" pitchFamily="34" charset="-120"/>
              </a:rPr>
              <a:t>Diccionarios</a:t>
            </a:r>
            <a:endParaRPr lang="en-US" sz="1400" dirty="0"/>
          </a:p>
        </p:txBody>
      </p:sp>
      <p:sp>
        <p:nvSpPr>
          <p:cNvPr id="29" name="Text 23"/>
          <p:cNvSpPr/>
          <p:nvPr/>
        </p:nvSpPr>
        <p:spPr>
          <a:xfrm>
            <a:off x="5440680" y="3749040"/>
            <a:ext cx="3108960" cy="457200"/>
          </a:xfrm>
          <a:prstGeom prst="rect">
            <a:avLst/>
          </a:prstGeom>
          <a:noFill/>
          <a:ln/>
        </p:spPr>
        <p:txBody>
          <a:bodyPr wrap="square" rtlCol="0" anchor="t"/>
          <a:lstStyle/>
          <a:p>
            <a:pPr indent="0" marL="0">
              <a:buNone/>
            </a:pPr>
            <a:r>
              <a:rPr lang="en-US" sz="1050" dirty="0">
                <a:solidFill>
                  <a:srgbClr val="3E5C76"/>
                </a:solidFill>
                <a:latin typeface="Consolas" pitchFamily="34" charset="0"/>
                <a:ea typeface="Consolas" pitchFamily="34" charset="-122"/>
                <a:cs typeface="Consolas" pitchFamily="34" charset="-120"/>
              </a:rPr>
              <a:t>d.update({k: v})  ·  acceso por clave</a:t>
            </a:r>
            <a:endParaRPr lang="en-US" sz="1050" dirty="0"/>
          </a:p>
        </p:txBody>
      </p:sp>
      <p:sp>
        <p:nvSpPr>
          <p:cNvPr id="30" name="Text 24"/>
          <p:cNvSpPr/>
          <p:nvPr/>
        </p:nvSpPr>
        <p:spPr>
          <a:xfrm>
            <a:off x="457200" y="4828032"/>
            <a:ext cx="5943600" cy="228600"/>
          </a:xfrm>
          <a:prstGeom prst="rect">
            <a:avLst/>
          </a:prstGeom>
          <a:noFill/>
          <a:ln/>
        </p:spPr>
        <p:txBody>
          <a:bodyPr wrap="square" rtlCol="0" anchor="ctr"/>
          <a:lstStyle/>
          <a:p>
            <a:pPr indent="0" marL="0">
              <a:buNone/>
            </a:pPr>
            <a:r>
              <a:rPr lang="en-US" sz="800" dirty="0">
                <a:solidFill>
                  <a:srgbClr val="6B7B8C"/>
                </a:solidFill>
                <a:latin typeface="Calibri" pitchFamily="34" charset="0"/>
                <a:ea typeface="Calibri" pitchFamily="34" charset="-122"/>
                <a:cs typeface="Calibri" pitchFamily="34" charset="-120"/>
              </a:rPr>
              <a:t>POO en Python · Parte práctica · Semana 2 · MCDI500</a:t>
            </a:r>
            <a:endParaRPr lang="en-US" sz="800" dirty="0"/>
          </a:p>
        </p:txBody>
      </p:sp>
      <p:sp>
        <p:nvSpPr>
          <p:cNvPr id="31" name="Text 25"/>
          <p:cNvSpPr/>
          <p:nvPr/>
        </p:nvSpPr>
        <p:spPr>
          <a:xfrm>
            <a:off x="8321040" y="4828032"/>
            <a:ext cx="365760" cy="228600"/>
          </a:xfrm>
          <a:prstGeom prst="rect">
            <a:avLst/>
          </a:prstGeom>
          <a:noFill/>
          <a:ln/>
        </p:spPr>
        <p:txBody>
          <a:bodyPr wrap="square" rtlCol="0" anchor="ctr"/>
          <a:lstStyle/>
          <a:p>
            <a:pPr algn="r" indent="0" marL="0">
              <a:buNone/>
            </a:pPr>
            <a:r>
              <a:rPr lang="en-US" sz="900" dirty="0">
                <a:solidFill>
                  <a:srgbClr val="6B7B8C"/>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20624"/>
            <a:ext cx="146304" cy="146304"/>
          </a:xfrm>
          <a:prstGeom prst="rect">
            <a:avLst/>
          </a:prstGeom>
          <a:solidFill>
            <a:srgbClr val="13A48A"/>
          </a:solidFill>
          <a:ln/>
        </p:spPr>
      </p:sp>
      <p:sp>
        <p:nvSpPr>
          <p:cNvPr id="3" name="Text 1"/>
          <p:cNvSpPr/>
          <p:nvPr/>
        </p:nvSpPr>
        <p:spPr>
          <a:xfrm>
            <a:off x="676656" y="365760"/>
            <a:ext cx="7955280" cy="274320"/>
          </a:xfrm>
          <a:prstGeom prst="rect">
            <a:avLst/>
          </a:prstGeom>
          <a:noFill/>
          <a:ln/>
        </p:spPr>
        <p:txBody>
          <a:bodyPr wrap="square" lIns="0" tIns="0" rIns="0" bIns="0" rtlCol="0" anchor="ctr"/>
          <a:lstStyle/>
          <a:p>
            <a:pPr indent="0" marL="0">
              <a:buNone/>
            </a:pPr>
            <a:r>
              <a:rPr lang="en-US" sz="1100" b="1" spc="200" kern="0" dirty="0">
                <a:solidFill>
                  <a:srgbClr val="0E7E69"/>
                </a:solidFill>
                <a:latin typeface="Calibri" pitchFamily="34" charset="0"/>
                <a:ea typeface="Calibri" pitchFamily="34" charset="-122"/>
                <a:cs typeface="Calibri" pitchFamily="34" charset="-120"/>
              </a:rPr>
              <a:t>DEL EJERCICIO AL PROYECTO</a:t>
            </a:r>
            <a:endParaRPr lang="en-US" sz="1100" dirty="0"/>
          </a:p>
        </p:txBody>
      </p:sp>
      <p:sp>
        <p:nvSpPr>
          <p:cNvPr id="4" name="Text 2"/>
          <p:cNvSpPr/>
          <p:nvPr/>
        </p:nvSpPr>
        <p:spPr>
          <a:xfrm>
            <a:off x="457200" y="658368"/>
            <a:ext cx="8229600" cy="640080"/>
          </a:xfrm>
          <a:prstGeom prst="rect">
            <a:avLst/>
          </a:prstGeom>
          <a:noFill/>
          <a:ln/>
        </p:spPr>
        <p:txBody>
          <a:bodyPr wrap="square" lIns="0" tIns="0" rIns="0" bIns="0" rtlCol="0" anchor="ctr"/>
          <a:lstStyle/>
          <a:p>
            <a:pPr indent="0" marL="0">
              <a:buNone/>
            </a:pPr>
            <a:r>
              <a:rPr lang="en-US" sz="2600" b="1" dirty="0">
                <a:solidFill>
                  <a:srgbClr val="16263A"/>
                </a:solidFill>
                <a:latin typeface="Trebuchet MS" pitchFamily="34" charset="0"/>
                <a:ea typeface="Trebuchet MS" pitchFamily="34" charset="-122"/>
                <a:cs typeface="Trebuchet MS" pitchFamily="34" charset="-120"/>
              </a:rPr>
              <a:t>Cómo se aplica en ciencia de datos</a:t>
            </a:r>
            <a:endParaRPr lang="en-US" sz="2600" dirty="0"/>
          </a:p>
        </p:txBody>
      </p:sp>
      <p:sp>
        <p:nvSpPr>
          <p:cNvPr id="5" name="Shape 3"/>
          <p:cNvSpPr/>
          <p:nvPr/>
        </p:nvSpPr>
        <p:spPr>
          <a:xfrm>
            <a:off x="457200" y="1554480"/>
            <a:ext cx="4023360" cy="2834640"/>
          </a:xfrm>
          <a:prstGeom prst="rect">
            <a:avLst/>
          </a:prstGeom>
          <a:solidFill>
            <a:srgbClr val="F5F8FA"/>
          </a:solidFill>
          <a:ln w="12700">
            <a:solidFill>
              <a:srgbClr val="D8E0E6"/>
            </a:solidFill>
            <a:prstDash val="solid"/>
          </a:ln>
          <a:effectLst>
            <a:outerShdw sx="100000" sy="100000" kx="0" ky="0" algn="bl" rotWithShape="0" blurRad="88900" dist="38100" dir="8100000">
              <a:srgbClr val="000000">
                <a:alpha val="13000"/>
              </a:srgbClr>
            </a:outerShdw>
          </a:effectLst>
        </p:spPr>
      </p:sp>
      <p:sp>
        <p:nvSpPr>
          <p:cNvPr id="6" name="Shape 4"/>
          <p:cNvSpPr/>
          <p:nvPr/>
        </p:nvSpPr>
        <p:spPr>
          <a:xfrm>
            <a:off x="457200" y="1554480"/>
            <a:ext cx="64008" cy="2834640"/>
          </a:xfrm>
          <a:prstGeom prst="rect">
            <a:avLst/>
          </a:prstGeom>
          <a:solidFill>
            <a:srgbClr val="13A48A"/>
          </a:solidFill>
          <a:ln/>
        </p:spPr>
      </p:sp>
      <p:sp>
        <p:nvSpPr>
          <p:cNvPr id="7" name="Text 5"/>
          <p:cNvSpPr/>
          <p:nvPr/>
        </p:nvSpPr>
        <p:spPr>
          <a:xfrm>
            <a:off x="713232" y="1783080"/>
            <a:ext cx="3611880" cy="640080"/>
          </a:xfrm>
          <a:prstGeom prst="rect">
            <a:avLst/>
          </a:prstGeom>
          <a:noFill/>
          <a:ln/>
        </p:spPr>
        <p:txBody>
          <a:bodyPr wrap="square" rtlCol="0" anchor="t"/>
          <a:lstStyle/>
          <a:p>
            <a:pPr indent="0" marL="0">
              <a:lnSpc>
                <a:spcPct val="103000"/>
              </a:lnSpc>
              <a:buNone/>
            </a:pPr>
            <a:r>
              <a:rPr lang="en-US" sz="1350" b="1" dirty="0">
                <a:solidFill>
                  <a:srgbClr val="16263A"/>
                </a:solidFill>
                <a:latin typeface="Trebuchet MS" pitchFamily="34" charset="0"/>
                <a:ea typeface="Trebuchet MS" pitchFamily="34" charset="-122"/>
                <a:cs typeface="Trebuchet MS" pitchFamily="34" charset="-120"/>
              </a:rPr>
              <a:t>Las mismas piezas que viste con la Moto estructuran un pipeline de datos:</a:t>
            </a:r>
            <a:endParaRPr lang="en-US" sz="1350" dirty="0"/>
          </a:p>
        </p:txBody>
      </p:sp>
      <p:sp>
        <p:nvSpPr>
          <p:cNvPr id="8" name="Text 6"/>
          <p:cNvSpPr/>
          <p:nvPr/>
        </p:nvSpPr>
        <p:spPr>
          <a:xfrm>
            <a:off x="749808" y="2423160"/>
            <a:ext cx="3611880" cy="1828800"/>
          </a:xfrm>
          <a:prstGeom prst="rect">
            <a:avLst/>
          </a:prstGeom>
          <a:noFill/>
          <a:ln/>
        </p:spPr>
        <p:txBody>
          <a:bodyPr wrap="square" rtlCol="0" anchor="t"/>
          <a:lstStyle/>
          <a:p>
            <a:pPr marL="342900" indent="-342900">
              <a:lnSpc>
                <a:spcPct val="103000"/>
              </a:lnSpc>
              <a:spcAft>
                <a:spcPts val="600"/>
              </a:spcAft>
              <a:buSzPct val="100000"/>
              <a:buChar char="•"/>
            </a:pPr>
            <a:r>
              <a:rPr lang="en-US" sz="1200" dirty="0">
                <a:solidFill>
                  <a:srgbClr val="3E5C76"/>
                </a:solidFill>
                <a:latin typeface="Calibri" pitchFamily="34" charset="0"/>
                <a:ea typeface="Calibri" pitchFamily="34" charset="-122"/>
                <a:cs typeface="Calibri" pitchFamily="34" charset="-120"/>
              </a:rPr>
              <a:t>Una clase encapsula una etapa (cargar, limpiar, transformar).</a:t>
            </a:r>
            <a:endParaRPr lang="en-US" sz="1200" dirty="0"/>
          </a:p>
          <a:p>
            <a:pPr marL="342900" indent="-342900">
              <a:lnSpc>
                <a:spcPct val="103000"/>
              </a:lnSpc>
              <a:spcAft>
                <a:spcPts val="600"/>
              </a:spcAft>
              <a:buSzPct val="100000"/>
              <a:buChar char="•"/>
            </a:pPr>
            <a:r>
              <a:rPr lang="en-US" sz="1200" dirty="0">
                <a:solidFill>
                  <a:srgbClr val="3E5C76"/>
                </a:solidFill>
                <a:latin typeface="Calibri" pitchFamily="34" charset="0"/>
                <a:ea typeface="Calibri" pitchFamily="34" charset="-122"/>
                <a:cs typeface="Calibri" pitchFamily="34" charset="-120"/>
              </a:rPr>
              <a:t>La herencia crea familias de transformadores o validadores.</a:t>
            </a:r>
            <a:endParaRPr lang="en-US" sz="1200" dirty="0"/>
          </a:p>
          <a:p>
            <a:pPr marL="342900" indent="-342900">
              <a:lnSpc>
                <a:spcPct val="103000"/>
              </a:lnSpc>
              <a:spcAft>
                <a:spcPts val="600"/>
              </a:spcAft>
              <a:buSzPct val="100000"/>
              <a:buChar char="•"/>
            </a:pPr>
            <a:r>
              <a:rPr lang="en-US" sz="1200" dirty="0">
                <a:solidFill>
                  <a:srgbClr val="3E5C76"/>
                </a:solidFill>
                <a:latin typeface="Calibri" pitchFamily="34" charset="0"/>
                <a:ea typeface="Calibri" pitchFamily="34" charset="-122"/>
                <a:cs typeface="Calibri" pitchFamily="34" charset="-120"/>
              </a:rPr>
              <a:t>La composición ensambla etapas en un flujo reproducible.</a:t>
            </a:r>
            <a:endParaRPr lang="en-US" sz="1200" dirty="0"/>
          </a:p>
        </p:txBody>
      </p:sp>
      <p:sp>
        <p:nvSpPr>
          <p:cNvPr id="9" name="Shape 7"/>
          <p:cNvSpPr/>
          <p:nvPr/>
        </p:nvSpPr>
        <p:spPr>
          <a:xfrm>
            <a:off x="4800600" y="1554480"/>
            <a:ext cx="3886200" cy="2834640"/>
          </a:xfrm>
          <a:prstGeom prst="rect">
            <a:avLst/>
          </a:prstGeom>
          <a:solidFill>
            <a:srgbClr val="0F2233"/>
          </a:solidFill>
          <a:ln/>
          <a:effectLst>
            <a:outerShdw sx="100000" sy="100000" kx="0" ky="0" algn="bl" rotWithShape="0" blurRad="88900" dist="38100" dir="8100000">
              <a:srgbClr val="000000">
                <a:alpha val="13000"/>
              </a:srgbClr>
            </a:outerShdw>
          </a:effectLst>
        </p:spPr>
      </p:sp>
      <p:sp>
        <p:nvSpPr>
          <p:cNvPr id="10" name="Shape 8"/>
          <p:cNvSpPr/>
          <p:nvPr/>
        </p:nvSpPr>
        <p:spPr>
          <a:xfrm>
            <a:off x="4800600" y="1554480"/>
            <a:ext cx="64008" cy="2834640"/>
          </a:xfrm>
          <a:prstGeom prst="rect">
            <a:avLst/>
          </a:prstGeom>
          <a:solidFill>
            <a:srgbClr val="13A48A"/>
          </a:solidFill>
          <a:ln/>
        </p:spPr>
      </p:sp>
      <p:sp>
        <p:nvSpPr>
          <p:cNvPr id="11" name="Text 9"/>
          <p:cNvSpPr/>
          <p:nvPr/>
        </p:nvSpPr>
        <p:spPr>
          <a:xfrm>
            <a:off x="4983480" y="1664208"/>
            <a:ext cx="3566160" cy="2615184"/>
          </a:xfrm>
          <a:prstGeom prst="rect">
            <a:avLst/>
          </a:prstGeom>
          <a:noFill/>
          <a:ln/>
        </p:spPr>
        <p:txBody>
          <a:bodyPr wrap="square" lIns="0" tIns="0" rIns="0" bIns="0" rtlCol="0" anchor="t"/>
          <a:lstStyle/>
          <a:p>
            <a:pPr indent="0" marL="0">
              <a:lnSpc>
                <a:spcPct val="105000"/>
              </a:lnSpc>
              <a:buNone/>
            </a:pPr>
            <a:r>
              <a:rPr lang="en-US" sz="850" dirty="0">
                <a:solidFill>
                  <a:srgbClr val="CFE8E1"/>
                </a:solidFill>
                <a:latin typeface="Consolas" pitchFamily="34" charset="0"/>
                <a:ea typeface="Consolas" pitchFamily="34" charset="-122"/>
                <a:cs typeface="Consolas" pitchFamily="34" charset="-120"/>
              </a:rPr>
              <a:t>class Preprocesador:</a:t>
            </a:r>
            <a:endParaRPr lang="en-US" sz="850" dirty="0"/>
          </a:p>
          <a:p>
            <a:pPr indent="0" marL="0">
              <a:lnSpc>
                <a:spcPct val="105000"/>
              </a:lnSpc>
              <a:buNone/>
            </a:pPr>
            <a:r>
              <a:rPr lang="en-US" sz="850" dirty="0">
                <a:solidFill>
                  <a:srgbClr val="CFE8E1"/>
                </a:solidFill>
                <a:latin typeface="Consolas" pitchFamily="34" charset="0"/>
                <a:ea typeface="Consolas" pitchFamily="34" charset="-122"/>
                <a:cs typeface="Consolas" pitchFamily="34" charset="-120"/>
              </a:rPr>
              <a:t>    def __init__(self, df):</a:t>
            </a:r>
            <a:endParaRPr lang="en-US" sz="850" dirty="0"/>
          </a:p>
          <a:p>
            <a:pPr indent="0" marL="0">
              <a:lnSpc>
                <a:spcPct val="105000"/>
              </a:lnSpc>
              <a:buNone/>
            </a:pPr>
            <a:r>
              <a:rPr lang="en-US" sz="850" dirty="0">
                <a:solidFill>
                  <a:srgbClr val="CFE8E1"/>
                </a:solidFill>
                <a:latin typeface="Consolas" pitchFamily="34" charset="0"/>
                <a:ea typeface="Consolas" pitchFamily="34" charset="-122"/>
                <a:cs typeface="Consolas" pitchFamily="34" charset="-120"/>
              </a:rPr>
              <a:t>        self.df = df.copy()   # estado</a:t>
            </a:r>
            <a:endParaRPr lang="en-US" sz="850" dirty="0"/>
          </a:p>
          <a:p>
            <a:pPr indent="0" marL="0">
              <a:lnSpc>
                <a:spcPct val="105000"/>
              </a:lnSpc>
              <a:buNone/>
            </a:pPr>
            <a:endParaRPr lang="en-US" sz="850" dirty="0"/>
          </a:p>
          <a:p>
            <a:pPr indent="0" marL="0">
              <a:lnSpc>
                <a:spcPct val="105000"/>
              </a:lnSpc>
              <a:buNone/>
            </a:pPr>
            <a:r>
              <a:rPr lang="en-US" sz="850" dirty="0">
                <a:solidFill>
                  <a:srgbClr val="CFE8E1"/>
                </a:solidFill>
                <a:latin typeface="Consolas" pitchFamily="34" charset="0"/>
                <a:ea typeface="Consolas" pitchFamily="34" charset="-122"/>
                <a:cs typeface="Consolas" pitchFamily="34" charset="-120"/>
              </a:rPr>
              <a:t>    def imputar(self, col): ...</a:t>
            </a:r>
            <a:endParaRPr lang="en-US" sz="850" dirty="0"/>
          </a:p>
          <a:p>
            <a:pPr indent="0" marL="0">
              <a:lnSpc>
                <a:spcPct val="105000"/>
              </a:lnSpc>
              <a:buNone/>
            </a:pPr>
            <a:r>
              <a:rPr lang="en-US" sz="850" dirty="0">
                <a:solidFill>
                  <a:srgbClr val="CFE8E1"/>
                </a:solidFill>
                <a:latin typeface="Consolas" pitchFamily="34" charset="0"/>
                <a:ea typeface="Consolas" pitchFamily="34" charset="-122"/>
                <a:cs typeface="Consolas" pitchFamily="34" charset="-120"/>
              </a:rPr>
              <a:t>    def escalar(self, cols): ...</a:t>
            </a:r>
            <a:endParaRPr lang="en-US" sz="850" dirty="0"/>
          </a:p>
          <a:p>
            <a:pPr indent="0" marL="0">
              <a:lnSpc>
                <a:spcPct val="105000"/>
              </a:lnSpc>
              <a:buNone/>
            </a:pPr>
            <a:endParaRPr lang="en-US" sz="850" dirty="0"/>
          </a:p>
          <a:p>
            <a:pPr indent="0" marL="0">
              <a:lnSpc>
                <a:spcPct val="105000"/>
              </a:lnSpc>
              <a:buNone/>
            </a:pPr>
            <a:r>
              <a:rPr lang="en-US" sz="850" dirty="0">
                <a:solidFill>
                  <a:srgbClr val="CFE8E1"/>
                </a:solidFill>
                <a:latin typeface="Consolas" pitchFamily="34" charset="0"/>
                <a:ea typeface="Consolas" pitchFamily="34" charset="-122"/>
                <a:cs typeface="Consolas" pitchFamily="34" charset="-120"/>
              </a:rPr>
              <a:t>pre = Preprocesador(df)</a:t>
            </a:r>
            <a:endParaRPr lang="en-US" sz="850" dirty="0"/>
          </a:p>
          <a:p>
            <a:pPr indent="0" marL="0">
              <a:lnSpc>
                <a:spcPct val="105000"/>
              </a:lnSpc>
              <a:buNone/>
            </a:pPr>
            <a:r>
              <a:rPr lang="en-US" sz="850" dirty="0">
                <a:solidFill>
                  <a:srgbClr val="CFE8E1"/>
                </a:solidFill>
                <a:latin typeface="Consolas" pitchFamily="34" charset="0"/>
                <a:ea typeface="Consolas" pitchFamily="34" charset="-122"/>
                <a:cs typeface="Consolas" pitchFamily="34" charset="-120"/>
              </a:rPr>
              <a:t>pre.imputar('bmi'); pre.escalar(['age'])</a:t>
            </a:r>
            <a:endParaRPr lang="en-US" sz="850" dirty="0"/>
          </a:p>
        </p:txBody>
      </p:sp>
      <p:sp>
        <p:nvSpPr>
          <p:cNvPr id="12" name="Text 10"/>
          <p:cNvSpPr/>
          <p:nvPr/>
        </p:nvSpPr>
        <p:spPr>
          <a:xfrm>
            <a:off x="457200" y="4828032"/>
            <a:ext cx="5943600" cy="228600"/>
          </a:xfrm>
          <a:prstGeom prst="rect">
            <a:avLst/>
          </a:prstGeom>
          <a:noFill/>
          <a:ln/>
        </p:spPr>
        <p:txBody>
          <a:bodyPr wrap="square" rtlCol="0" anchor="ctr"/>
          <a:lstStyle/>
          <a:p>
            <a:pPr indent="0" marL="0">
              <a:buNone/>
            </a:pPr>
            <a:r>
              <a:rPr lang="en-US" sz="800" dirty="0">
                <a:solidFill>
                  <a:srgbClr val="6B7B8C"/>
                </a:solidFill>
                <a:latin typeface="Calibri" pitchFamily="34" charset="0"/>
                <a:ea typeface="Calibri" pitchFamily="34" charset="-122"/>
                <a:cs typeface="Calibri" pitchFamily="34" charset="-120"/>
              </a:rPr>
              <a:t>POO en Python · Parte práctica · Semana 2 · MCDI500</a:t>
            </a:r>
            <a:endParaRPr lang="en-US" sz="800" dirty="0"/>
          </a:p>
        </p:txBody>
      </p:sp>
      <p:sp>
        <p:nvSpPr>
          <p:cNvPr id="13" name="Text 11"/>
          <p:cNvSpPr/>
          <p:nvPr/>
        </p:nvSpPr>
        <p:spPr>
          <a:xfrm>
            <a:off x="8321040" y="4828032"/>
            <a:ext cx="365760" cy="228600"/>
          </a:xfrm>
          <a:prstGeom prst="rect">
            <a:avLst/>
          </a:prstGeom>
          <a:noFill/>
          <a:ln/>
        </p:spPr>
        <p:txBody>
          <a:bodyPr wrap="square" rtlCol="0" anchor="ctr"/>
          <a:lstStyle/>
          <a:p>
            <a:pPr algn="r" indent="0" marL="0">
              <a:buNone/>
            </a:pPr>
            <a:r>
              <a:rPr lang="en-US" sz="900" dirty="0">
                <a:solidFill>
                  <a:srgbClr val="6B7B8C"/>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263A"/>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3A48A"/>
          </a:solidFill>
          <a:ln/>
        </p:spPr>
      </p:sp>
      <p:sp>
        <p:nvSpPr>
          <p:cNvPr id="3" name="Text 1"/>
          <p:cNvSpPr/>
          <p:nvPr/>
        </p:nvSpPr>
        <p:spPr>
          <a:xfrm>
            <a:off x="822960" y="777240"/>
            <a:ext cx="7315200" cy="320040"/>
          </a:xfrm>
          <a:prstGeom prst="rect">
            <a:avLst/>
          </a:prstGeom>
          <a:noFill/>
          <a:ln/>
        </p:spPr>
        <p:txBody>
          <a:bodyPr wrap="square" rtlCol="0" anchor="ctr"/>
          <a:lstStyle/>
          <a:p>
            <a:pPr indent="0" marL="0">
              <a:buNone/>
            </a:pPr>
            <a:r>
              <a:rPr lang="en-US" sz="1300" b="1" spc="200" kern="0" dirty="0">
                <a:solidFill>
                  <a:srgbClr val="8FB7C9"/>
                </a:solidFill>
                <a:latin typeface="Calibri" pitchFamily="34" charset="0"/>
                <a:ea typeface="Calibri" pitchFamily="34" charset="-122"/>
                <a:cs typeface="Calibri" pitchFamily="34" charset="-120"/>
              </a:rPr>
              <a:t>EN SÍNTESIS</a:t>
            </a:r>
            <a:endParaRPr lang="en-US" sz="1300" dirty="0"/>
          </a:p>
        </p:txBody>
      </p:sp>
      <p:sp>
        <p:nvSpPr>
          <p:cNvPr id="4" name="Text 2"/>
          <p:cNvSpPr/>
          <p:nvPr/>
        </p:nvSpPr>
        <p:spPr>
          <a:xfrm>
            <a:off x="822960" y="1097280"/>
            <a:ext cx="7680960" cy="640080"/>
          </a:xfrm>
          <a:prstGeom prst="rect">
            <a:avLst/>
          </a:prstGeom>
          <a:noFill/>
          <a:ln/>
        </p:spPr>
        <p:txBody>
          <a:bodyPr wrap="square" rtlCol="0" anchor="ctr"/>
          <a:lstStyle/>
          <a:p>
            <a:pPr indent="0" marL="0">
              <a:buNone/>
            </a:pPr>
            <a:r>
              <a:rPr lang="en-US" sz="3000" b="1" dirty="0">
                <a:solidFill>
                  <a:srgbClr val="FFFFFF"/>
                </a:solidFill>
                <a:latin typeface="Trebuchet MS" pitchFamily="34" charset="0"/>
                <a:ea typeface="Trebuchet MS" pitchFamily="34" charset="-122"/>
                <a:cs typeface="Trebuchet MS" pitchFamily="34" charset="-120"/>
              </a:rPr>
              <a:t>De los nombres a los objetos</a:t>
            </a:r>
            <a:endParaRPr lang="en-US" sz="3000" dirty="0"/>
          </a:p>
        </p:txBody>
      </p:sp>
      <p:sp>
        <p:nvSpPr>
          <p:cNvPr id="5" name="Text 3"/>
          <p:cNvSpPr/>
          <p:nvPr/>
        </p:nvSpPr>
        <p:spPr>
          <a:xfrm>
            <a:off x="822960" y="1874520"/>
            <a:ext cx="7498080" cy="1554480"/>
          </a:xfrm>
          <a:prstGeom prst="rect">
            <a:avLst/>
          </a:prstGeom>
          <a:noFill/>
          <a:ln/>
        </p:spPr>
        <p:txBody>
          <a:bodyPr wrap="square" rtlCol="0" anchor="t"/>
          <a:lstStyle/>
          <a:p>
            <a:pPr indent="0" marL="0">
              <a:lnSpc>
                <a:spcPct val="110000"/>
              </a:lnSpc>
              <a:buNone/>
            </a:pPr>
            <a:r>
              <a:rPr lang="en-US" sz="1450" dirty="0">
                <a:solidFill>
                  <a:srgbClr val="DCEAF0"/>
                </a:solidFill>
                <a:latin typeface="Calibri" pitchFamily="34" charset="0"/>
                <a:ea typeface="Calibri" pitchFamily="34" charset="-122"/>
                <a:cs typeface="Calibri" pitchFamily="34" charset="-120"/>
              </a:rPr>
              <a:t>Scope y namespaces explican dónde viven los nombres; las clases y objetos organizan datos y comportamiento; la herencia y la composición permiten reutilizar y combinar piezas.</a:t>
            </a:r>
            <a:endParaRPr lang="en-US" sz="1450" dirty="0"/>
          </a:p>
          <a:p>
            <a:pPr indent="0" marL="0">
              <a:lnSpc>
                <a:spcPct val="110000"/>
              </a:lnSpc>
              <a:buNone/>
            </a:pPr>
            <a:endParaRPr lang="en-US" sz="1450" dirty="0"/>
          </a:p>
          <a:p>
            <a:pPr indent="0" marL="0">
              <a:lnSpc>
                <a:spcPct val="110000"/>
              </a:lnSpc>
              <a:buNone/>
            </a:pPr>
            <a:r>
              <a:rPr lang="en-US" sz="1450" b="1" dirty="0">
                <a:solidFill>
                  <a:srgbClr val="7FE3CE"/>
                </a:solidFill>
                <a:latin typeface="Calibri" pitchFamily="34" charset="0"/>
                <a:ea typeface="Calibri" pitchFamily="34" charset="-122"/>
                <a:cs typeface="Calibri" pitchFamily="34" charset="-120"/>
              </a:rPr>
              <a:t>Todo en Python es un objeto: dominar esta lógica es la base para construir pipelines de datos claros y mantenibles.</a:t>
            </a:r>
            <a:endParaRPr lang="en-US" sz="1450" dirty="0"/>
          </a:p>
        </p:txBody>
      </p:sp>
      <p:sp>
        <p:nvSpPr>
          <p:cNvPr id="6" name="Shape 4"/>
          <p:cNvSpPr/>
          <p:nvPr/>
        </p:nvSpPr>
        <p:spPr>
          <a:xfrm>
            <a:off x="822960" y="3840480"/>
            <a:ext cx="7498080" cy="10973"/>
          </a:xfrm>
          <a:prstGeom prst="rect">
            <a:avLst/>
          </a:prstGeom>
          <a:solidFill>
            <a:srgbClr val="3E5C76"/>
          </a:solidFill>
          <a:ln/>
        </p:spPr>
      </p:sp>
      <p:sp>
        <p:nvSpPr>
          <p:cNvPr id="7" name="Text 5"/>
          <p:cNvSpPr/>
          <p:nvPr/>
        </p:nvSpPr>
        <p:spPr>
          <a:xfrm>
            <a:off x="822960" y="3977640"/>
            <a:ext cx="7498080" cy="457200"/>
          </a:xfrm>
          <a:prstGeom prst="rect">
            <a:avLst/>
          </a:prstGeom>
          <a:noFill/>
          <a:ln/>
        </p:spPr>
        <p:txBody>
          <a:bodyPr wrap="square" rtlCol="0" anchor="ctr"/>
          <a:lstStyle/>
          <a:p>
            <a:pPr indent="0" marL="0">
              <a:buNone/>
            </a:pPr>
            <a:r>
              <a:rPr lang="en-US" sz="1200" i="1" dirty="0">
                <a:solidFill>
                  <a:srgbClr val="AFC6D2"/>
                </a:solidFill>
                <a:latin typeface="Calibri" pitchFamily="34" charset="0"/>
                <a:ea typeface="Calibri" pitchFamily="34" charset="-122"/>
                <a:cs typeface="Calibri" pitchFamily="34" charset="-120"/>
              </a:rPr>
              <a:t>Practica todos estos conceptos en el notebook "Parte práctica de la Semana 2".</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POO Python - Semana 2 Practica</dc:title>
  <dc:subject>PptxGenJS Presentation</dc:subject>
  <dc:creator>PptxGenJS</dc:creator>
  <cp:lastModifiedBy>PptxGenJS</cp:lastModifiedBy>
  <cp:revision>1</cp:revision>
  <dcterms:created xsi:type="dcterms:W3CDTF">2026-06-08T18:27:45Z</dcterms:created>
  <dcterms:modified xsi:type="dcterms:W3CDTF">2026-06-08T18:27:45Z</dcterms:modified>
</cp:coreProperties>
</file>