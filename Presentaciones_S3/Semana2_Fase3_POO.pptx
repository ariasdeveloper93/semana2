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MAGÍSTER EN CIENCIA DE DATOS E IA  ·  MCDI500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algorítmico y Programación Orientada a Objetos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Semana 2  —  del pensamiento algorítmico a sistemas modulares, reutilizables y escalables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E7E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42812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22452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algorítmico · Recursión · Complejidad · POO · Patrones de diseño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SEMANA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buscamos lograr esta semana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4320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874520"/>
            <a:ext cx="640080" cy="64008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201533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Diseñar e implementar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3200400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algorítmicas en Python aplicadas al proyecto, integrando programación estructurada, recursiva y orientada a objetos.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16002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600200"/>
            <a:ext cx="64008" cy="274320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Shape 10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130" y="201533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4448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Estructurar con POO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84448" y="3200400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cómo clases, atributos, métodos y encapsulamiento organizan los componentes del análisis de forma clara y robusta.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16002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600200"/>
            <a:ext cx="64008" cy="274320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9" name="Shape 15"/>
          <p:cNvSpPr/>
          <p:nvPr/>
        </p:nvSpPr>
        <p:spPr>
          <a:xfrm>
            <a:off x="6565392" y="1874520"/>
            <a:ext cx="640080" cy="64008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210" y="201533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0528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Fundamentar decisiones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10528" y="3200400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decisiones de arquitectura y su impacto en calidad, escalabilidad y reproducibilidad de la solución.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ALGORÍTMICAS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recorrido de la semana, paso a paso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29968"/>
            <a:ext cx="585216" cy="585216"/>
          </a:xfrm>
          <a:prstGeom prst="ellipse">
            <a:avLst/>
          </a:prstGeom>
          <a:solidFill>
            <a:srgbClr val="13A48A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0299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 y recursiva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66544" y="1828800"/>
            <a:ext cx="1097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3A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48840" y="182880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0048" y="2029968"/>
            <a:ext cx="585216" cy="585216"/>
          </a:xfrm>
          <a:prstGeom prst="ellipse">
            <a:avLst/>
          </a:prstGeom>
          <a:solidFill>
            <a:srgbClr val="13A48A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20299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40280" y="274320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y espacial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58184" y="1828800"/>
            <a:ext cx="1097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3A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40480" y="182880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1688" y="2029968"/>
            <a:ext cx="585216" cy="585216"/>
          </a:xfrm>
          <a:prstGeom prst="ellipse">
            <a:avLst/>
          </a:prstGeom>
          <a:solidFill>
            <a:srgbClr val="13A48A"/>
          </a:solidFill>
          <a:ln/>
        </p:spPr>
      </p:sp>
      <p:sp>
        <p:nvSpPr>
          <p:cNvPr id="17" name="Text 15"/>
          <p:cNvSpPr/>
          <p:nvPr/>
        </p:nvSpPr>
        <p:spPr>
          <a:xfrm>
            <a:off x="4361688" y="20299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 Objetos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49824" y="1828800"/>
            <a:ext cx="1097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3A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532120" y="182880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2029968"/>
            <a:ext cx="585216" cy="585216"/>
          </a:xfrm>
          <a:prstGeom prst="ellipse">
            <a:avLst/>
          </a:prstGeom>
          <a:solidFill>
            <a:srgbClr val="13A48A"/>
          </a:solidFill>
          <a:ln/>
        </p:spPr>
      </p:sp>
      <p:sp>
        <p:nvSpPr>
          <p:cNvPr id="22" name="Text 20"/>
          <p:cNvSpPr/>
          <p:nvPr/>
        </p:nvSpPr>
        <p:spPr>
          <a:xfrm>
            <a:off x="6053328" y="20299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23560" y="274320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41464" y="1828800"/>
            <a:ext cx="1097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3A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223760" y="182880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44968" y="2029968"/>
            <a:ext cx="585216" cy="585216"/>
          </a:xfrm>
          <a:prstGeom prst="ellipse">
            <a:avLst/>
          </a:prstGeom>
          <a:solidFill>
            <a:srgbClr val="E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7744968" y="20299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15200" y="274320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documentación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avanzan de lo simple a lo complejo: primero los fundamentos algorítmicos y, sobre esa base, la organización del código con objetos y patrones dentro de un entorno reproducible.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estructurada y recursiva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Estructurada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el código en funciones con una sola responsabilidad.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estructuras de control claras (if, for, while).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verificable: entrada → proceso → salida.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600200"/>
            <a:ext cx="3886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0" y="1828800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01" y="194950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Recursiva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074920" y="23957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que se llama a sí misma: necesita un caso base y un caso recursivo.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74920" y="3063240"/>
            <a:ext cx="3383280" cy="11887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74920" y="3063240"/>
            <a:ext cx="64008" cy="11887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9" name="Text 15"/>
          <p:cNvSpPr/>
          <p:nvPr/>
        </p:nvSpPr>
        <p:spPr>
          <a:xfrm>
            <a:off x="5257800" y="3172968"/>
            <a:ext cx="3063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       # caso base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n*factorial(n-1)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COMPUTACIONAL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Complejidad temporal y espacial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64008" cy="169164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470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A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21792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724912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por índice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16459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645920"/>
            <a:ext cx="64008" cy="169164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2" name="Text 10"/>
          <p:cNvSpPr/>
          <p:nvPr/>
        </p:nvSpPr>
        <p:spPr>
          <a:xfrm>
            <a:off x="2724912" y="18470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A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752344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2724912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los datos una vez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18304" y="16459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1645920"/>
            <a:ext cx="64008" cy="169164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7" name="Text 15"/>
          <p:cNvSpPr/>
          <p:nvPr/>
        </p:nvSpPr>
        <p:spPr>
          <a:xfrm>
            <a:off x="4855464" y="18470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E5C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882896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Log-lineal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82896" y="2724912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con divide y vencerás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48856" y="16459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645920"/>
            <a:ext cx="64008" cy="169164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22" name="Text 20"/>
          <p:cNvSpPr/>
          <p:nvPr/>
        </p:nvSpPr>
        <p:spPr>
          <a:xfrm>
            <a:off x="6986016" y="18470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65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013448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Cuadrática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13448" y="2724912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dentro de bucle: ¡cuidado!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20440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611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Medir, no suponer.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timeit (tiempo) y tracemalloc (memoria) para comparar implementaciones e interpretar resultados en términos de Big-O, justificando las optimizaciones aplicadas.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ORIENTADA A OBJETOS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problema resuelve la POO en ciencia de datos?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77640" cy="2788920"/>
          </a:xfrm>
          <a:prstGeom prst="rect">
            <a:avLst/>
          </a:prstGeom>
          <a:solidFill>
            <a:srgbClr val="16263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"código que corre"…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crecer el proyecto, el código "en celdas" se vuelve frágil, difícil de mantener y poco reproducible.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7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 un sistema reproducible y auditable.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POO contribuye a: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5464" y="215798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203911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responsabilidades claras por componente.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660904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76148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26426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acceso y la modificación del estado.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3264408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336499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246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estructuras comunes sin duplicación.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867912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96849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38496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Intercambiar comportamiento sin reescribir el sistema central.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Clases, objetos, atributos y métodos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132588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837944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942551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013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6656" y="22768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molde o plantilla. Ej.: ConjuntoDatos, ModeloPredictivo, Validador.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6002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600200"/>
            <a:ext cx="64008" cy="132588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Shape 10"/>
          <p:cNvSpPr/>
          <p:nvPr/>
        </p:nvSpPr>
        <p:spPr>
          <a:xfrm>
            <a:off x="3538728" y="1837944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35" y="1942551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0" y="18013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57016" y="22768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instancia que ejecuta el flujo. Ej.: datos_train, modelo.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090672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90672"/>
            <a:ext cx="64008" cy="132588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9" name="Shape 15"/>
          <p:cNvSpPr/>
          <p:nvPr/>
        </p:nvSpPr>
        <p:spPr>
          <a:xfrm>
            <a:off x="658368" y="3328416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433023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291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76656" y="3767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Guardan el estado: datos limpios, parámetros aprendidos, métricas.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337560" y="3090672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337560" y="3090672"/>
            <a:ext cx="64008" cy="132588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25" name="Shape 20"/>
          <p:cNvSpPr/>
          <p:nvPr/>
        </p:nvSpPr>
        <p:spPr>
          <a:xfrm>
            <a:off x="3538728" y="3328416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35" y="3433023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114800" y="3291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3557016" y="3767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 acciones: leer, limpiar, entrenar, predecir, reportar.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080760" y="1600200"/>
            <a:ext cx="2606040" cy="2816352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080760" y="1600200"/>
            <a:ext cx="64008" cy="2816352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1" name="Text 25"/>
          <p:cNvSpPr/>
          <p:nvPr/>
        </p:nvSpPr>
        <p:spPr>
          <a:xfrm>
            <a:off x="6263640" y="1709928"/>
            <a:ext cx="228600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ConjuntoDatos: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df):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self.df = df   # atributo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limpiar(self):  # metodo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self.df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1 DE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Encapsulamiento: proteger el estado interno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30352" cy="530352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477" y="1945477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47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controlado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4231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el acceso directo a los datos internos y expone solo operaciones controladas. Las reglas de calidad quedan integradas en los métodos.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291840"/>
            <a:ext cx="3657600" cy="9601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291840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01568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columna not in df.columns: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KeyError(columna)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 antes de transformar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1600200"/>
            <a:ext cx="3886200" cy="2788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600200"/>
            <a:ext cx="64008" cy="2788920"/>
          </a:xfrm>
          <a:prstGeom prst="rect">
            <a:avLst/>
          </a:prstGeom>
          <a:solidFill>
            <a:srgbClr val="0E7E69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 directos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29200" y="21945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del estado: 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cambios accidentales en atributos.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integrada: 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reglas de calidad antes de procesar.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controlado: 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el orden correcto (primero fit, luego transform).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explícitos: 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visible qué es válido o inválido.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2 DE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Herencia: reutilizar y especializar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30352" cy="530352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477" y="1945477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47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Clases base y contratos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39572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base define comportamientos generales; las clases hijas los especializan. Una clase base abstracta fija un contrato mínimo que todas deben cumplir.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291840"/>
            <a:ext cx="3566160" cy="9601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291840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01568"/>
            <a:ext cx="3246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LectorDatos        # base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LectorCSV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LectorSQL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LectorAPI    # hijas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6344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contrato en el pipeline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057400"/>
            <a:ext cx="4023360" cy="676656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2057400"/>
            <a:ext cx="64008" cy="676656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7" name="Text 14"/>
          <p:cNvSpPr/>
          <p:nvPr/>
        </p:nvSpPr>
        <p:spPr>
          <a:xfrm>
            <a:off x="4828032" y="211226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E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base (abstracta)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37960" y="211226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contrato común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en el pipeline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825496"/>
            <a:ext cx="4023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2825496"/>
            <a:ext cx="64008" cy="676656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21" name="Text 18"/>
          <p:cNvSpPr/>
          <p:nvPr/>
        </p:nvSpPr>
        <p:spPr>
          <a:xfrm>
            <a:off x="4828032" y="288036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E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Clases hijas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537960" y="288036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Especializan el comportamiento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sin duplicación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3593592"/>
            <a:ext cx="4023360" cy="676656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3593592"/>
            <a:ext cx="64008" cy="676656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25" name="Text 22"/>
          <p:cNvSpPr/>
          <p:nvPr/>
        </p:nvSpPr>
        <p:spPr>
          <a:xfrm>
            <a:off x="4828032" y="364845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E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37960" y="364845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el contrato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estable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3 DE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Polimorfismo: misma interfaz, distinto comportamiento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30352" cy="530352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477" y="1945477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47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interfaz común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39572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 objetos responden al mismo método, siempre que cumplan el mismo contrato. El pipeline funciona sin saber qué implementación concreta usa.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291840"/>
            <a:ext cx="3657600" cy="9601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291840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01568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fuente in fuentes: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fuente.obtener_datos()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CSV, API o BD: mismo codigo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00600" y="16916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Habilita en ciencia de datos: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00600" y="2194560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07" y="229916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19456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intercambiables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800600" y="2907792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07" y="3012399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290779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Experimentación controlada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800600" y="3621024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207" y="3725631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62102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comparativa sin tocar el núcleo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POO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 directos y buenas prácticas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2788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E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240280"/>
            <a:ext cx="3611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Modularidad: cada clase, una responsabilidad.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Reutilización: menos duplicación de código.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estado y decisiones quedan guardados.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Escalabilidad: facilita el trabajo en equipo y la evolución del pipeline.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2240280"/>
            <a:ext cx="3611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clase = 1 responsabilidad (evita "clases Dios").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la composición (ensamblar bloques) cuando convenga.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interfaces coherentes (fit / transform / predict).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el sobre-diseño: estructura cuando el proyecto lo requiera.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SISTEMAS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Tensiones de diseño que exigen criterio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64008" cy="114300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025396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351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7830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abstracción excesiva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691640"/>
            <a:ext cx="64008" cy="114300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12" name="Shape 9"/>
          <p:cNvSpPr/>
          <p:nvPr/>
        </p:nvSpPr>
        <p:spPr>
          <a:xfrm>
            <a:off x="4864608" y="2025396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351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7830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dinámicos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clases rígidas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017520"/>
            <a:ext cx="64008" cy="114300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7" name="Shape 13"/>
          <p:cNvSpPr/>
          <p:nvPr/>
        </p:nvSpPr>
        <p:spPr>
          <a:xfrm>
            <a:off x="658368" y="3351276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46100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1089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velocidad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663440" y="30175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3017520"/>
            <a:ext cx="64008" cy="114300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22" name="Shape 17"/>
          <p:cNvSpPr/>
          <p:nvPr/>
        </p:nvSpPr>
        <p:spPr>
          <a:xfrm>
            <a:off x="4864608" y="3351276"/>
            <a:ext cx="475488" cy="475488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46100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1089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funcionales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orientación a objetos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POO exige equilibrio entre rigor arquitectónico y adaptabilidad, con entendimiento del dominio y del ciclo analítico completo.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"script" a sistema: soluciones probadas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77640" cy="2788920"/>
          </a:xfrm>
          <a:prstGeom prst="rect">
            <a:avLst/>
          </a:prstGeom>
          <a:solidFill>
            <a:srgbClr val="16263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de fondo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35204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estructura, al crecer el proyecto aparece: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difícil de reutilizar.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acoplamiento entre componentes.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trazabilidad del flujo.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probar y mantener.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664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patrones</a:t>
            </a:r>
            <a:pPr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(Gamma et al., 1995)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084832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5464" y="218541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206654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la creación de objetos.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54880" y="2651760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75234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263347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una única instancia compartida.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0" y="3218688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331927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200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intercambiables bajo un contrato.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54880" y="3785616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88620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376732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automáticamente a los suscritos.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Factory (fábrica): crear sin acoplar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450592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la instanciación de objetos: ofrece una interfaz para crear y delega qué clase concreta construir según un parámetro o configuración.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310128"/>
            <a:ext cx="3657600" cy="9601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310128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19856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crear_lector(tipo):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tipo=='csv': return LectorCSV()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tipo=='sql': return LectorSQL()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1600200"/>
            <a:ext cx="3886200" cy="2788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típicas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47488" y="2240280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formatos de entrada (CSV, JSON, SQL).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familias de modelos parametrizables.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"Enchufar" nuevos componentes sin tocar el resto.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Singleton (único): una sola instancia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450592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una clase tenga una única instancia y un punto global de acceso. Útil para recursos compartidos donde duplicar provocaría estados divergentes.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310128"/>
            <a:ext cx="3657600" cy="9601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310128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19856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Config: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_inst=None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__new__(cls):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# devuelve la misma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1600200"/>
            <a:ext cx="3886200" cy="2788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Cuándo (y precauciones)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47488" y="2240280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de experimentos o conexión a BD única.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consistencia en recursos globales.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estado global que dificulta las pruebas.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práctica: úsalo solo si es realmente necesario.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COMPORTAMIENTO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(estrategia): algoritmos intercambiables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450592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una familia de algoritmos y los vuelve intercambiables. Permite cambiar el comportamiento sin modificar el código que lo usa.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310128"/>
            <a:ext cx="3657600" cy="9601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310128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19856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Limpiador: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estrategia):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self.estrategia=estrategia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media / mediana / constante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1600200"/>
            <a:ext cx="3886200" cy="2788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600200"/>
            <a:ext cx="64008" cy="27889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típicas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47488" y="2240280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Distintas formas de imputar valores faltantes.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 escaladores o esquemas de validación.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condicionales extensos: un contrato común.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COMPORTAMIENTO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Observer: publicación / suscripción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60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450592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uno-a-muchos: cuando un "sujeto" cambia de estado, sus observadores suscritos son notificados automáticamente.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310128"/>
            <a:ext cx="3657600" cy="9601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310128"/>
            <a:ext cx="64008" cy="960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19856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pipeline.suscribir(logger)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pipeline.suscribir(tablero)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pipeline.ejecutar(datos)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FE8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notifica a todos los suscritos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1600200"/>
            <a:ext cx="3886200" cy="278892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600200"/>
            <a:ext cx="64008" cy="278892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típicas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47488" y="2240280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métricas por época (log, consola, early stopping).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reactivas: avisar cuando un lote está listo.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basadas en eventos, desacopladas.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RESPONSABLE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Patrones: riesgos y cómo mitigarlos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no es "usar patrones por usarlos", sino resolver necesidades reales del proyecto y mejorar la mantenibilidad.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585216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65960"/>
            <a:ext cx="64008" cy="585216"/>
          </a:xfrm>
          <a:prstGeom prst="rect">
            <a:avLst/>
          </a:prstGeom>
          <a:solidFill>
            <a:srgbClr val="E065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214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965960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Sobre-abstracción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9000" y="1965960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 la trazabilidad del flujo.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1965960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patrones solo si aportan valor.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633472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633472"/>
            <a:ext cx="64008" cy="585216"/>
          </a:xfrm>
          <a:prstGeom prst="rect">
            <a:avLst/>
          </a:prstGeom>
          <a:solidFill>
            <a:srgbClr val="E065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889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63347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global (Singleton)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29000" y="2633472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 pruebas y extensión.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17920" y="263347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su uso y documentarlo.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300984"/>
            <a:ext cx="8229600" cy="585216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300984"/>
            <a:ext cx="64008" cy="585216"/>
          </a:xfrm>
          <a:prstGeom prst="rect">
            <a:avLst/>
          </a:prstGeom>
          <a:solidFill>
            <a:srgbClr val="E065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564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30098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Condicionales dispersos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29000" y="3300984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duplicación y fragilidad.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17920" y="330098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creación (Factory/Strategy).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968496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968496"/>
            <a:ext cx="64008" cy="585216"/>
          </a:xfrm>
          <a:prstGeom prst="rect">
            <a:avLst/>
          </a:prstGeom>
          <a:solidFill>
            <a:srgbClr val="E0654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2394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9684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Observadores sin control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429000" y="3968496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o errores silenciosos.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217920" y="39684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suscripciones y aislar fallos.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AVANZADAS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Diseñar el espacio de aprendizaje del modelo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128016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01368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019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764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Estandarización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2167128"/>
            <a:ext cx="3639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media 0 y desviación 1. Usar fit_transform solo en train para evitar data leakage.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600200"/>
            <a:ext cx="64008" cy="128016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801368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90195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764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Escalado robusto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64608" y="2167128"/>
            <a:ext cx="3639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RobustScaler: mediana e IQR. Resiste outliers (datos financieros y biomédicos).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26664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26664"/>
            <a:ext cx="64008" cy="128016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2841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19125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Codificación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8368" y="3593592"/>
            <a:ext cx="3639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vs OrdinalEncoder cuando hay un orden semántico real.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3026664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26664"/>
            <a:ext cx="64008" cy="128016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25" name="Shape 20"/>
          <p:cNvSpPr/>
          <p:nvPr/>
        </p:nvSpPr>
        <p:spPr>
          <a:xfrm>
            <a:off x="4846320" y="3227832"/>
            <a:ext cx="457200" cy="45720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32841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319125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lineales / PCA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64608" y="3593592"/>
            <a:ext cx="36393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no lineales y PCA (sobre datos escalados) para reducir dimensionalidad y ruido.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siempre en pipelines reproducibles: aplican los pasos en orden y encapsulan transformación + modelamiento.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Documentación científica del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64008" cy="2103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603504" cy="603504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003" y="2080443"/>
            <a:ext cx="337962" cy="3379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651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31089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 el proceso y las decisiones para un lector humano.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691640"/>
            <a:ext cx="64008" cy="2103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3" name="Shape 10"/>
          <p:cNvSpPr/>
          <p:nvPr/>
        </p:nvSpPr>
        <p:spPr>
          <a:xfrm>
            <a:off x="3639312" y="1947672"/>
            <a:ext cx="603504" cy="603504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083" y="2080443"/>
            <a:ext cx="337962" cy="337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4448" y="2651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Comentarios y docstrings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84448" y="31089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Explican funciones y el porqué de cada decisión en el código.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16916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691640"/>
            <a:ext cx="64008" cy="210312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9" name="Shape 15"/>
          <p:cNvSpPr/>
          <p:nvPr/>
        </p:nvSpPr>
        <p:spPr>
          <a:xfrm>
            <a:off x="6565392" y="1947672"/>
            <a:ext cx="603504" cy="603504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163" y="2080443"/>
            <a:ext cx="337962" cy="3379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0528" y="2651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10528" y="31089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eventos en ejecución (mejor que print: niveles y archivo).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garantizar trazabilidad, reproducibilidad y colaboración efectiva, dejando registro estructurado del tratamiento de datos.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se evalúa esta semana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64008" cy="242316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901952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2022653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560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Formativa 2 — Foro técnico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3182112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de enfoques estructurados y recursivos. Insumo para los módulos de la fase.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368503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ponderación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16459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645920"/>
            <a:ext cx="64008" cy="242316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14" name="Shape 11"/>
          <p:cNvSpPr/>
          <p:nvPr/>
        </p:nvSpPr>
        <p:spPr>
          <a:xfrm>
            <a:off x="3621024" y="1901952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725" y="202265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84448" y="2560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Formativa 3 — Avance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84448" y="3182112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con scripts, recursión y mediciones de complejidad. Retroalimentación temprana.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84448" y="368503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ponderación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309360" y="16459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1645920"/>
            <a:ext cx="64008" cy="2423160"/>
          </a:xfrm>
          <a:prstGeom prst="rect">
            <a:avLst/>
          </a:prstGeom>
          <a:solidFill>
            <a:srgbClr val="E0654A"/>
          </a:solidFill>
          <a:ln/>
        </p:spPr>
      </p:sp>
      <p:sp>
        <p:nvSpPr>
          <p:cNvPr id="21" name="Shape 17"/>
          <p:cNvSpPr/>
          <p:nvPr/>
        </p:nvSpPr>
        <p:spPr>
          <a:xfrm>
            <a:off x="6547104" y="1901952"/>
            <a:ext cx="548640" cy="548640"/>
          </a:xfrm>
          <a:prstGeom prst="ellipse">
            <a:avLst/>
          </a:prstGeom>
          <a:solidFill>
            <a:srgbClr val="EEF3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5" y="2022653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10528" y="2560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Sumativa 3 — Entregable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510528" y="3182112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todos los recursos en un trabajo reproducible y justificado.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510528" y="368503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 la nota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MCDI500 · Fase 3 · Semana 2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3A48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algoritmo al sistema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programación estructurada y recursiva da las bases; la POO y los patrones organizan el código en componentes claros, reutilizables y verificables.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de diseño impacta en la calidad, escalabilidad y reproducibilidad de la solución.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7498080" cy="10973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7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Salinas, O. (2026). Programación orientada a objetos (POO) aplicada a la ciencia de datos [Infografía]. UNAB, Santiago.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E., Helm, R., Johnson, R. &amp; Vlissides, J. (1995). Design Patterns. Addison-Wesley.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2 - Fase 3</dc:title>
  <dc:subject>PptxGenJS Presentation</dc:subject>
  <dc:creator>MCDI500</dc:creator>
  <cp:lastModifiedBy>MCDI500</cp:lastModifiedBy>
  <cp:revision>1</cp:revision>
  <dcterms:created xsi:type="dcterms:W3CDTF">2026-06-08T16:53:06Z</dcterms:created>
  <dcterms:modified xsi:type="dcterms:W3CDTF">2026-06-08T16:53:06Z</dcterms:modified>
</cp:coreProperties>
</file>